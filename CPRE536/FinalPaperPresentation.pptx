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047"/>
    <p:restoredTop sz="94658"/>
  </p:normalViewPr>
  <p:slideViewPr>
    <p:cSldViewPr snapToGrid="0">
      <p:cViewPr varScale="1">
        <p:scale>
          <a:sx n="97" d="100"/>
          <a:sy n="97" d="100"/>
        </p:scale>
        <p:origin x="224" y="6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0E03DE-41F7-406E-8107-E4F85D401EBB}"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340904BD-3BB5-4343-9D24-7B384FB449C6}">
      <dgm:prSet/>
      <dgm:spPr/>
      <dgm:t>
        <a:bodyPr/>
        <a:lstStyle/>
        <a:p>
          <a:r>
            <a:rPr lang="en-US" b="1"/>
            <a:t>The Challenge:</a:t>
          </a:r>
          <a:endParaRPr lang="en-US"/>
        </a:p>
      </dgm:t>
    </dgm:pt>
    <dgm:pt modelId="{97CCF7A0-7B28-4DD4-8D84-B4FC210B0F6D}" type="parTrans" cxnId="{E77F2258-DA81-43B3-80DF-D85581A1D292}">
      <dgm:prSet/>
      <dgm:spPr/>
      <dgm:t>
        <a:bodyPr/>
        <a:lstStyle/>
        <a:p>
          <a:endParaRPr lang="en-US"/>
        </a:p>
      </dgm:t>
    </dgm:pt>
    <dgm:pt modelId="{62039045-2E94-4B4B-AEC5-AE624C4E72B2}" type="sibTrans" cxnId="{E77F2258-DA81-43B3-80DF-D85581A1D292}">
      <dgm:prSet/>
      <dgm:spPr/>
      <dgm:t>
        <a:bodyPr/>
        <a:lstStyle/>
        <a:p>
          <a:endParaRPr lang="en-US"/>
        </a:p>
      </dgm:t>
    </dgm:pt>
    <dgm:pt modelId="{F1DFD366-63F7-44FA-930C-31F2EA1B76FE}">
      <dgm:prSet/>
      <dgm:spPr/>
      <dgm:t>
        <a:bodyPr/>
        <a:lstStyle/>
        <a:p>
          <a:r>
            <a:rPr lang="en-US"/>
            <a:t>Courts require scientific reliability (Daubert Standard).</a:t>
          </a:r>
        </a:p>
      </dgm:t>
    </dgm:pt>
    <dgm:pt modelId="{F3D519B5-38A6-49D4-BCFD-2B2F9F20D5D2}" type="parTrans" cxnId="{1690781D-A7BB-4D03-851D-1F7091FCC858}">
      <dgm:prSet/>
      <dgm:spPr/>
      <dgm:t>
        <a:bodyPr/>
        <a:lstStyle/>
        <a:p>
          <a:endParaRPr lang="en-US"/>
        </a:p>
      </dgm:t>
    </dgm:pt>
    <dgm:pt modelId="{4DE9CBDE-7102-4EA7-B0E1-9F6B7A9A10EF}" type="sibTrans" cxnId="{1690781D-A7BB-4D03-851D-1F7091FCC858}">
      <dgm:prSet/>
      <dgm:spPr/>
      <dgm:t>
        <a:bodyPr/>
        <a:lstStyle/>
        <a:p>
          <a:endParaRPr lang="en-US"/>
        </a:p>
      </dgm:t>
    </dgm:pt>
    <dgm:pt modelId="{BDC95921-7ED7-4EA2-BEA2-D88CAA2E01E8}">
      <dgm:prSet/>
      <dgm:spPr/>
      <dgm:t>
        <a:bodyPr/>
        <a:lstStyle/>
        <a:p>
          <a:r>
            <a:rPr lang="en-US"/>
            <a:t>Commercial tools are "Black Boxes" (cannot see their code).</a:t>
          </a:r>
        </a:p>
      </dgm:t>
    </dgm:pt>
    <dgm:pt modelId="{C99EEC07-29C4-431E-9267-35CC123542B3}" type="parTrans" cxnId="{0BB98A8F-0695-49EC-99DB-0D5A7E07781C}">
      <dgm:prSet/>
      <dgm:spPr/>
      <dgm:t>
        <a:bodyPr/>
        <a:lstStyle/>
        <a:p>
          <a:endParaRPr lang="en-US"/>
        </a:p>
      </dgm:t>
    </dgm:pt>
    <dgm:pt modelId="{D1A15696-3341-4C47-89A3-6AFE629358B1}" type="sibTrans" cxnId="{0BB98A8F-0695-49EC-99DB-0D5A7E07781C}">
      <dgm:prSet/>
      <dgm:spPr/>
      <dgm:t>
        <a:bodyPr/>
        <a:lstStyle/>
        <a:p>
          <a:endParaRPr lang="en-US"/>
        </a:p>
      </dgm:t>
    </dgm:pt>
    <dgm:pt modelId="{35EC374A-8676-4B2F-A48D-7973494A0635}">
      <dgm:prSet/>
      <dgm:spPr/>
      <dgm:t>
        <a:bodyPr/>
        <a:lstStyle/>
        <a:p>
          <a:r>
            <a:rPr lang="en-US"/>
            <a:t>Open-source tools need validation, but NIST tests are often too complex/outdated for small labs.</a:t>
          </a:r>
        </a:p>
      </dgm:t>
    </dgm:pt>
    <dgm:pt modelId="{7C1583E4-7268-473C-B753-66F7C2934D54}" type="parTrans" cxnId="{86B07AAE-1E13-4F72-B4D6-36EA88801100}">
      <dgm:prSet/>
      <dgm:spPr/>
      <dgm:t>
        <a:bodyPr/>
        <a:lstStyle/>
        <a:p>
          <a:endParaRPr lang="en-US"/>
        </a:p>
      </dgm:t>
    </dgm:pt>
    <dgm:pt modelId="{72A73DC9-5DF4-42F2-BDF1-506578A0A77E}" type="sibTrans" cxnId="{86B07AAE-1E13-4F72-B4D6-36EA88801100}">
      <dgm:prSet/>
      <dgm:spPr/>
      <dgm:t>
        <a:bodyPr/>
        <a:lstStyle/>
        <a:p>
          <a:endParaRPr lang="en-US"/>
        </a:p>
      </dgm:t>
    </dgm:pt>
    <dgm:pt modelId="{0677DB45-10A7-4960-B206-3154116306D0}">
      <dgm:prSet/>
      <dgm:spPr/>
      <dgm:t>
        <a:bodyPr/>
        <a:lstStyle/>
        <a:p>
          <a:r>
            <a:rPr lang="en-US" b="1"/>
            <a:t>The Goal:</a:t>
          </a:r>
          <a:endParaRPr lang="en-US"/>
        </a:p>
      </dgm:t>
    </dgm:pt>
    <dgm:pt modelId="{A2C17B32-EACA-4665-A37B-03423B3050A0}" type="parTrans" cxnId="{CCA6254A-6CCD-446D-8F5A-E28030E290E1}">
      <dgm:prSet/>
      <dgm:spPr/>
      <dgm:t>
        <a:bodyPr/>
        <a:lstStyle/>
        <a:p>
          <a:endParaRPr lang="en-US"/>
        </a:p>
      </dgm:t>
    </dgm:pt>
    <dgm:pt modelId="{F4140108-FE42-4254-99D7-049E728BB017}" type="sibTrans" cxnId="{CCA6254A-6CCD-446D-8F5A-E28030E290E1}">
      <dgm:prSet/>
      <dgm:spPr/>
      <dgm:t>
        <a:bodyPr/>
        <a:lstStyle/>
        <a:p>
          <a:endParaRPr lang="en-US"/>
        </a:p>
      </dgm:t>
    </dgm:pt>
    <dgm:pt modelId="{616C7452-93F7-4812-941B-E0B37E29F4A3}">
      <dgm:prSet/>
      <dgm:spPr/>
      <dgm:t>
        <a:bodyPr/>
        <a:lstStyle/>
        <a:p>
          <a:r>
            <a:rPr lang="en-US"/>
            <a:t>Create a simple and repeatable “Ground Truth” test.</a:t>
          </a:r>
        </a:p>
      </dgm:t>
    </dgm:pt>
    <dgm:pt modelId="{8D01C9DD-0BD1-4458-ACAA-F202D4030223}" type="parTrans" cxnId="{33399EF3-53C5-43CD-87B5-825AEDA08B6A}">
      <dgm:prSet/>
      <dgm:spPr/>
      <dgm:t>
        <a:bodyPr/>
        <a:lstStyle/>
        <a:p>
          <a:endParaRPr lang="en-US"/>
        </a:p>
      </dgm:t>
    </dgm:pt>
    <dgm:pt modelId="{CA50612A-58C6-4C52-B0CE-76582196B3D1}" type="sibTrans" cxnId="{33399EF3-53C5-43CD-87B5-825AEDA08B6A}">
      <dgm:prSet/>
      <dgm:spPr/>
      <dgm:t>
        <a:bodyPr/>
        <a:lstStyle/>
        <a:p>
          <a:endParaRPr lang="en-US"/>
        </a:p>
      </dgm:t>
    </dgm:pt>
    <dgm:pt modelId="{9490523A-E597-410F-9669-DEA086EBE6CE}">
      <dgm:prSet/>
      <dgm:spPr/>
      <dgm:t>
        <a:bodyPr/>
        <a:lstStyle/>
        <a:p>
          <a:r>
            <a:rPr lang="en-US"/>
            <a:t>Verify the File Location, Metadata Accuracy, and Repeatability.</a:t>
          </a:r>
        </a:p>
      </dgm:t>
    </dgm:pt>
    <dgm:pt modelId="{7DA11CE6-F9A5-4C85-809E-FD3FFD8ABB4A}" type="parTrans" cxnId="{576316AB-ACC2-4D9A-8C17-B1BA6243C7D6}">
      <dgm:prSet/>
      <dgm:spPr/>
      <dgm:t>
        <a:bodyPr/>
        <a:lstStyle/>
        <a:p>
          <a:endParaRPr lang="en-US"/>
        </a:p>
      </dgm:t>
    </dgm:pt>
    <dgm:pt modelId="{019505B5-E5F5-4B50-A48F-29F55F60E343}" type="sibTrans" cxnId="{576316AB-ACC2-4D9A-8C17-B1BA6243C7D6}">
      <dgm:prSet/>
      <dgm:spPr/>
      <dgm:t>
        <a:bodyPr/>
        <a:lstStyle/>
        <a:p>
          <a:endParaRPr lang="en-US"/>
        </a:p>
      </dgm:t>
    </dgm:pt>
    <dgm:pt modelId="{591AE8A3-42C4-CA40-BF3C-FF5D607A8599}" type="pres">
      <dgm:prSet presAssocID="{150E03DE-41F7-406E-8107-E4F85D401EBB}" presName="Name0" presStyleCnt="0">
        <dgm:presLayoutVars>
          <dgm:dir/>
          <dgm:animLvl val="lvl"/>
          <dgm:resizeHandles val="exact"/>
        </dgm:presLayoutVars>
      </dgm:prSet>
      <dgm:spPr/>
    </dgm:pt>
    <dgm:pt modelId="{FB5EF98F-8D4D-D340-B657-CB75D181CEAD}" type="pres">
      <dgm:prSet presAssocID="{340904BD-3BB5-4343-9D24-7B384FB449C6}" presName="composite" presStyleCnt="0"/>
      <dgm:spPr/>
    </dgm:pt>
    <dgm:pt modelId="{28A982BB-5369-A14D-B5EA-C6E7E9A2E662}" type="pres">
      <dgm:prSet presAssocID="{340904BD-3BB5-4343-9D24-7B384FB449C6}" presName="parTx" presStyleLbl="alignNode1" presStyleIdx="0" presStyleCnt="2">
        <dgm:presLayoutVars>
          <dgm:chMax val="0"/>
          <dgm:chPref val="0"/>
          <dgm:bulletEnabled val="1"/>
        </dgm:presLayoutVars>
      </dgm:prSet>
      <dgm:spPr/>
    </dgm:pt>
    <dgm:pt modelId="{9652033E-C7DE-1B49-B232-6FCAC9424ADA}" type="pres">
      <dgm:prSet presAssocID="{340904BD-3BB5-4343-9D24-7B384FB449C6}" presName="desTx" presStyleLbl="alignAccFollowNode1" presStyleIdx="0" presStyleCnt="2">
        <dgm:presLayoutVars>
          <dgm:bulletEnabled val="1"/>
        </dgm:presLayoutVars>
      </dgm:prSet>
      <dgm:spPr/>
    </dgm:pt>
    <dgm:pt modelId="{1181285E-0AFF-DB49-9523-F8493CC200DD}" type="pres">
      <dgm:prSet presAssocID="{62039045-2E94-4B4B-AEC5-AE624C4E72B2}" presName="space" presStyleCnt="0"/>
      <dgm:spPr/>
    </dgm:pt>
    <dgm:pt modelId="{E1A3A1EB-27B3-5D49-9F46-81A582F01CF3}" type="pres">
      <dgm:prSet presAssocID="{0677DB45-10A7-4960-B206-3154116306D0}" presName="composite" presStyleCnt="0"/>
      <dgm:spPr/>
    </dgm:pt>
    <dgm:pt modelId="{10CE248D-3A48-6146-BBF4-7AFB540C61AE}" type="pres">
      <dgm:prSet presAssocID="{0677DB45-10A7-4960-B206-3154116306D0}" presName="parTx" presStyleLbl="alignNode1" presStyleIdx="1" presStyleCnt="2">
        <dgm:presLayoutVars>
          <dgm:chMax val="0"/>
          <dgm:chPref val="0"/>
          <dgm:bulletEnabled val="1"/>
        </dgm:presLayoutVars>
      </dgm:prSet>
      <dgm:spPr/>
    </dgm:pt>
    <dgm:pt modelId="{48F44C10-F7E8-D64F-8E72-92E34A18BB23}" type="pres">
      <dgm:prSet presAssocID="{0677DB45-10A7-4960-B206-3154116306D0}" presName="desTx" presStyleLbl="alignAccFollowNode1" presStyleIdx="1" presStyleCnt="2">
        <dgm:presLayoutVars>
          <dgm:bulletEnabled val="1"/>
        </dgm:presLayoutVars>
      </dgm:prSet>
      <dgm:spPr/>
    </dgm:pt>
  </dgm:ptLst>
  <dgm:cxnLst>
    <dgm:cxn modelId="{71DC381A-79DB-6D4D-A5B2-1AA5AA7C2F0B}" type="presOf" srcId="{9490523A-E597-410F-9669-DEA086EBE6CE}" destId="{48F44C10-F7E8-D64F-8E72-92E34A18BB23}" srcOrd="0" destOrd="1" presId="urn:microsoft.com/office/officeart/2005/8/layout/hList1"/>
    <dgm:cxn modelId="{1690781D-A7BB-4D03-851D-1F7091FCC858}" srcId="{340904BD-3BB5-4343-9D24-7B384FB449C6}" destId="{F1DFD366-63F7-44FA-930C-31F2EA1B76FE}" srcOrd="0" destOrd="0" parTransId="{F3D519B5-38A6-49D4-BCFD-2B2F9F20D5D2}" sibTransId="{4DE9CBDE-7102-4EA7-B0E1-9F6B7A9A10EF}"/>
    <dgm:cxn modelId="{86330125-9F69-4D42-A37B-877DDAD6A864}" type="presOf" srcId="{340904BD-3BB5-4343-9D24-7B384FB449C6}" destId="{28A982BB-5369-A14D-B5EA-C6E7E9A2E662}" srcOrd="0" destOrd="0" presId="urn:microsoft.com/office/officeart/2005/8/layout/hList1"/>
    <dgm:cxn modelId="{CCA6254A-6CCD-446D-8F5A-E28030E290E1}" srcId="{150E03DE-41F7-406E-8107-E4F85D401EBB}" destId="{0677DB45-10A7-4960-B206-3154116306D0}" srcOrd="1" destOrd="0" parTransId="{A2C17B32-EACA-4665-A37B-03423B3050A0}" sibTransId="{F4140108-FE42-4254-99D7-049E728BB017}"/>
    <dgm:cxn modelId="{26222A52-0B6D-B04D-BB4E-1C55BEAA4CC9}" type="presOf" srcId="{35EC374A-8676-4B2F-A48D-7973494A0635}" destId="{9652033E-C7DE-1B49-B232-6FCAC9424ADA}" srcOrd="0" destOrd="2" presId="urn:microsoft.com/office/officeart/2005/8/layout/hList1"/>
    <dgm:cxn modelId="{E77F2258-DA81-43B3-80DF-D85581A1D292}" srcId="{150E03DE-41F7-406E-8107-E4F85D401EBB}" destId="{340904BD-3BB5-4343-9D24-7B384FB449C6}" srcOrd="0" destOrd="0" parTransId="{97CCF7A0-7B28-4DD4-8D84-B4FC210B0F6D}" sibTransId="{62039045-2E94-4B4B-AEC5-AE624C4E72B2}"/>
    <dgm:cxn modelId="{311CC178-6BC4-C74B-A3E9-C229D16D728B}" type="presOf" srcId="{F1DFD366-63F7-44FA-930C-31F2EA1B76FE}" destId="{9652033E-C7DE-1B49-B232-6FCAC9424ADA}" srcOrd="0" destOrd="0" presId="urn:microsoft.com/office/officeart/2005/8/layout/hList1"/>
    <dgm:cxn modelId="{0BB98A8F-0695-49EC-99DB-0D5A7E07781C}" srcId="{340904BD-3BB5-4343-9D24-7B384FB449C6}" destId="{BDC95921-7ED7-4EA2-BEA2-D88CAA2E01E8}" srcOrd="1" destOrd="0" parTransId="{C99EEC07-29C4-431E-9267-35CC123542B3}" sibTransId="{D1A15696-3341-4C47-89A3-6AFE629358B1}"/>
    <dgm:cxn modelId="{7811199D-F6AC-F74C-B624-FC6F7AB83F94}" type="presOf" srcId="{0677DB45-10A7-4960-B206-3154116306D0}" destId="{10CE248D-3A48-6146-BBF4-7AFB540C61AE}" srcOrd="0" destOrd="0" presId="urn:microsoft.com/office/officeart/2005/8/layout/hList1"/>
    <dgm:cxn modelId="{F6899F9D-82AF-804B-8CB3-D0505C0BAA90}" type="presOf" srcId="{BDC95921-7ED7-4EA2-BEA2-D88CAA2E01E8}" destId="{9652033E-C7DE-1B49-B232-6FCAC9424ADA}" srcOrd="0" destOrd="1" presId="urn:microsoft.com/office/officeart/2005/8/layout/hList1"/>
    <dgm:cxn modelId="{576316AB-ACC2-4D9A-8C17-B1BA6243C7D6}" srcId="{0677DB45-10A7-4960-B206-3154116306D0}" destId="{9490523A-E597-410F-9669-DEA086EBE6CE}" srcOrd="1" destOrd="0" parTransId="{7DA11CE6-F9A5-4C85-809E-FD3FFD8ABB4A}" sibTransId="{019505B5-E5F5-4B50-A48F-29F55F60E343}"/>
    <dgm:cxn modelId="{B05E62AD-CF70-2141-B77D-72F7DE8BBCDB}" type="presOf" srcId="{616C7452-93F7-4812-941B-E0B37E29F4A3}" destId="{48F44C10-F7E8-D64F-8E72-92E34A18BB23}" srcOrd="0" destOrd="0" presId="urn:microsoft.com/office/officeart/2005/8/layout/hList1"/>
    <dgm:cxn modelId="{86B07AAE-1E13-4F72-B4D6-36EA88801100}" srcId="{340904BD-3BB5-4343-9D24-7B384FB449C6}" destId="{35EC374A-8676-4B2F-A48D-7973494A0635}" srcOrd="2" destOrd="0" parTransId="{7C1583E4-7268-473C-B753-66F7C2934D54}" sibTransId="{72A73DC9-5DF4-42F2-BDF1-506578A0A77E}"/>
    <dgm:cxn modelId="{33399EF3-53C5-43CD-87B5-825AEDA08B6A}" srcId="{0677DB45-10A7-4960-B206-3154116306D0}" destId="{616C7452-93F7-4812-941B-E0B37E29F4A3}" srcOrd="0" destOrd="0" parTransId="{8D01C9DD-0BD1-4458-ACAA-F202D4030223}" sibTransId="{CA50612A-58C6-4C52-B0CE-76582196B3D1}"/>
    <dgm:cxn modelId="{4E98C7FB-14D0-8841-917D-5FFA79A49D3C}" type="presOf" srcId="{150E03DE-41F7-406E-8107-E4F85D401EBB}" destId="{591AE8A3-42C4-CA40-BF3C-FF5D607A8599}" srcOrd="0" destOrd="0" presId="urn:microsoft.com/office/officeart/2005/8/layout/hList1"/>
    <dgm:cxn modelId="{B9EA8AF0-F8A1-9549-A177-1641FB0B300A}" type="presParOf" srcId="{591AE8A3-42C4-CA40-BF3C-FF5D607A8599}" destId="{FB5EF98F-8D4D-D340-B657-CB75D181CEAD}" srcOrd="0" destOrd="0" presId="urn:microsoft.com/office/officeart/2005/8/layout/hList1"/>
    <dgm:cxn modelId="{2C7AADB2-5C1C-9148-92DD-3EC2FF826AB3}" type="presParOf" srcId="{FB5EF98F-8D4D-D340-B657-CB75D181CEAD}" destId="{28A982BB-5369-A14D-B5EA-C6E7E9A2E662}" srcOrd="0" destOrd="0" presId="urn:microsoft.com/office/officeart/2005/8/layout/hList1"/>
    <dgm:cxn modelId="{CC92A4CB-9D42-FB43-BA87-A64EC6A78B33}" type="presParOf" srcId="{FB5EF98F-8D4D-D340-B657-CB75D181CEAD}" destId="{9652033E-C7DE-1B49-B232-6FCAC9424ADA}" srcOrd="1" destOrd="0" presId="urn:microsoft.com/office/officeart/2005/8/layout/hList1"/>
    <dgm:cxn modelId="{182CA80B-4766-124A-AF22-4A94EA349B8C}" type="presParOf" srcId="{591AE8A3-42C4-CA40-BF3C-FF5D607A8599}" destId="{1181285E-0AFF-DB49-9523-F8493CC200DD}" srcOrd="1" destOrd="0" presId="urn:microsoft.com/office/officeart/2005/8/layout/hList1"/>
    <dgm:cxn modelId="{AAFA5914-6911-004A-9C1E-6CC43F54106B}" type="presParOf" srcId="{591AE8A3-42C4-CA40-BF3C-FF5D607A8599}" destId="{E1A3A1EB-27B3-5D49-9F46-81A582F01CF3}" srcOrd="2" destOrd="0" presId="urn:microsoft.com/office/officeart/2005/8/layout/hList1"/>
    <dgm:cxn modelId="{82E774C6-F63C-E94A-9B5E-25AAB7D825E2}" type="presParOf" srcId="{E1A3A1EB-27B3-5D49-9F46-81A582F01CF3}" destId="{10CE248D-3A48-6146-BBF4-7AFB540C61AE}" srcOrd="0" destOrd="0" presId="urn:microsoft.com/office/officeart/2005/8/layout/hList1"/>
    <dgm:cxn modelId="{7FB7AA59-6D4C-224E-90C6-1C2AB2858E99}" type="presParOf" srcId="{E1A3A1EB-27B3-5D49-9F46-81A582F01CF3}" destId="{48F44C10-F7E8-D64F-8E72-92E34A18BB23}" srcOrd="1" destOrd="0" presId="urn:microsoft.com/office/officeart/2005/8/layout/h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704F06-69B1-492B-ACB5-980AA37E95F8}"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A9D9CE7-9117-4B15-BB8F-7777CEBEF599}">
      <dgm:prSet/>
      <dgm:spPr/>
      <dgm:t>
        <a:bodyPr/>
        <a:lstStyle/>
        <a:p>
          <a:pPr>
            <a:lnSpc>
              <a:spcPct val="100000"/>
            </a:lnSpc>
            <a:defRPr b="1"/>
          </a:pPr>
          <a:r>
            <a:rPr lang="en-US" b="1" i="0" baseline="0" dirty="0"/>
            <a:t>Environment:</a:t>
          </a:r>
        </a:p>
        <a:p>
          <a:pPr>
            <a:lnSpc>
              <a:spcPct val="100000"/>
            </a:lnSpc>
            <a:defRPr b="1"/>
          </a:pPr>
          <a:r>
            <a:rPr lang="en-US" b="0" i="0" baseline="0" dirty="0"/>
            <a:t>Windows 10 VM, 2GB NTFS Virtual Drive.</a:t>
          </a:r>
          <a:endParaRPr lang="en-US" dirty="0"/>
        </a:p>
      </dgm:t>
    </dgm:pt>
    <dgm:pt modelId="{FF94C027-650B-445B-A631-2FC29B112ACC}" type="parTrans" cxnId="{6798C257-8032-458B-92BF-CBAD9584B053}">
      <dgm:prSet/>
      <dgm:spPr/>
      <dgm:t>
        <a:bodyPr/>
        <a:lstStyle/>
        <a:p>
          <a:endParaRPr lang="en-US"/>
        </a:p>
      </dgm:t>
    </dgm:pt>
    <dgm:pt modelId="{8744801B-D07A-4E24-9CD0-378184184F2B}" type="sibTrans" cxnId="{6798C257-8032-458B-92BF-CBAD9584B053}">
      <dgm:prSet/>
      <dgm:spPr/>
      <dgm:t>
        <a:bodyPr/>
        <a:lstStyle/>
        <a:p>
          <a:endParaRPr lang="en-US"/>
        </a:p>
      </dgm:t>
    </dgm:pt>
    <dgm:pt modelId="{45AEE7FF-E466-42DC-97BA-F5F8B9CC2FD2}">
      <dgm:prSet/>
      <dgm:spPr/>
      <dgm:t>
        <a:bodyPr/>
        <a:lstStyle/>
        <a:p>
          <a:pPr>
            <a:lnSpc>
              <a:spcPct val="100000"/>
            </a:lnSpc>
            <a:defRPr b="1"/>
          </a:pPr>
          <a:r>
            <a:rPr lang="en-US" b="1" i="0" baseline="0" dirty="0"/>
            <a:t>Dataset (55 Files Total):</a:t>
          </a:r>
        </a:p>
        <a:p>
          <a:pPr>
            <a:lnSpc>
              <a:spcPct val="100000"/>
            </a:lnSpc>
            <a:defRPr b="1"/>
          </a:pPr>
          <a:r>
            <a:rPr lang="en-US" b="0" i="0" baseline="0" dirty="0"/>
            <a:t>25 Documents (</a:t>
          </a:r>
          <a:r>
            <a:rPr lang="en-US" b="0" i="0" baseline="0" dirty="0" err="1"/>
            <a:t>docx,.pdf,.txt</a:t>
          </a:r>
          <a:r>
            <a:rPr lang="en-US" b="0" i="0" baseline="0" dirty="0"/>
            <a:t>)</a:t>
          </a:r>
        </a:p>
        <a:p>
          <a:pPr>
            <a:lnSpc>
              <a:spcPct val="100000"/>
            </a:lnSpc>
            <a:defRPr b="1"/>
          </a:pPr>
          <a:r>
            <a:rPr lang="en-US" b="0" i="0" baseline="0" dirty="0"/>
            <a:t>30 Images (jpg,.</a:t>
          </a:r>
          <a:r>
            <a:rPr lang="en-US" b="0" i="0" baseline="0" dirty="0" err="1"/>
            <a:t>png</a:t>
          </a:r>
          <a:r>
            <a:rPr lang="en-US" b="0" i="0" baseline="0" dirty="0"/>
            <a:t>).</a:t>
          </a:r>
          <a:endParaRPr lang="en-US" dirty="0"/>
        </a:p>
      </dgm:t>
    </dgm:pt>
    <dgm:pt modelId="{3089B3E6-E000-4DE9-8558-2DEF228C9515}" type="parTrans" cxnId="{E7A21ED6-0E75-4BC8-BCD8-A4B35514A662}">
      <dgm:prSet/>
      <dgm:spPr/>
      <dgm:t>
        <a:bodyPr/>
        <a:lstStyle/>
        <a:p>
          <a:endParaRPr lang="en-US"/>
        </a:p>
      </dgm:t>
    </dgm:pt>
    <dgm:pt modelId="{2A45AFE1-CED6-4BA1-9DEB-05692747FDB5}" type="sibTrans" cxnId="{E7A21ED6-0E75-4BC8-BCD8-A4B35514A662}">
      <dgm:prSet/>
      <dgm:spPr/>
      <dgm:t>
        <a:bodyPr/>
        <a:lstStyle/>
        <a:p>
          <a:endParaRPr lang="en-US"/>
        </a:p>
      </dgm:t>
    </dgm:pt>
    <dgm:pt modelId="{6921623E-D2EE-473F-AF91-6511A7CDBF86}">
      <dgm:prSet/>
      <dgm:spPr/>
      <dgm:t>
        <a:bodyPr/>
        <a:lstStyle/>
        <a:p>
          <a:pPr>
            <a:lnSpc>
              <a:spcPct val="100000"/>
            </a:lnSpc>
            <a:defRPr b="1"/>
          </a:pPr>
          <a:r>
            <a:rPr lang="en-US" b="1" i="0" baseline="0" dirty="0"/>
            <a:t>Deletion Scenarios:</a:t>
          </a:r>
        </a:p>
        <a:p>
          <a:pPr>
            <a:lnSpc>
              <a:spcPct val="100000"/>
            </a:lnSpc>
            <a:defRPr b="1"/>
          </a:pPr>
          <a:r>
            <a:rPr lang="en-US" b="1" i="0" baseline="0" dirty="0"/>
            <a:t>Standard Files:</a:t>
          </a:r>
          <a:r>
            <a:rPr lang="en-US" b="0" i="0" baseline="0" dirty="0"/>
            <a:t> Moved to the Recycle Bin.</a:t>
          </a:r>
        </a:p>
        <a:p>
          <a:pPr>
            <a:lnSpc>
              <a:spcPct val="100000"/>
            </a:lnSpc>
            <a:defRPr b="1"/>
          </a:pPr>
          <a:r>
            <a:rPr lang="en-US" b="1" i="0" baseline="0" dirty="0"/>
            <a:t>Permanent Files:</a:t>
          </a:r>
          <a:r>
            <a:rPr lang="en-US" b="0" i="0" baseline="0" dirty="0"/>
            <a:t> "Shift + Delete" (Bypassing Recycle Bin).</a:t>
          </a:r>
          <a:endParaRPr lang="en-US" dirty="0"/>
        </a:p>
      </dgm:t>
    </dgm:pt>
    <dgm:pt modelId="{AA2A1169-6964-4195-BBB6-3401C41A7B3E}" type="parTrans" cxnId="{140BEE5D-BF6E-4422-9B8A-3EA2B95C96E6}">
      <dgm:prSet/>
      <dgm:spPr/>
      <dgm:t>
        <a:bodyPr/>
        <a:lstStyle/>
        <a:p>
          <a:endParaRPr lang="en-US"/>
        </a:p>
      </dgm:t>
    </dgm:pt>
    <dgm:pt modelId="{5D6AB96C-BC83-4985-B2BB-28F0188B7740}" type="sibTrans" cxnId="{140BEE5D-BF6E-4422-9B8A-3EA2B95C96E6}">
      <dgm:prSet/>
      <dgm:spPr/>
      <dgm:t>
        <a:bodyPr/>
        <a:lstStyle/>
        <a:p>
          <a:endParaRPr lang="en-US"/>
        </a:p>
      </dgm:t>
    </dgm:pt>
    <dgm:pt modelId="{D33E6C8E-5BB2-4D6D-A81B-D9DA6AD014DA}">
      <dgm:prSet/>
      <dgm:spPr/>
      <dgm:t>
        <a:bodyPr/>
        <a:lstStyle/>
        <a:p>
          <a:pPr>
            <a:lnSpc>
              <a:spcPct val="100000"/>
            </a:lnSpc>
            <a:defRPr b="1"/>
          </a:pPr>
          <a:r>
            <a:rPr lang="en-US" b="1" i="0" baseline="0" dirty="0"/>
            <a:t>Verification:</a:t>
          </a:r>
        </a:p>
        <a:p>
          <a:pPr>
            <a:lnSpc>
              <a:spcPct val="100000"/>
            </a:lnSpc>
            <a:defRPr b="1"/>
          </a:pPr>
          <a:r>
            <a:rPr lang="en-US" b="0" i="0" baseline="0" dirty="0"/>
            <a:t>Cryptographic Hashes (SHA-256) compared to a Master List.</a:t>
          </a:r>
          <a:endParaRPr lang="en-US" dirty="0"/>
        </a:p>
      </dgm:t>
    </dgm:pt>
    <dgm:pt modelId="{6C7D3C16-EEB9-4AB0-BB57-0B96FEBC5FC0}" type="parTrans" cxnId="{BFC145E4-B2A7-43D9-AE00-06F2BD8AC5CE}">
      <dgm:prSet/>
      <dgm:spPr/>
      <dgm:t>
        <a:bodyPr/>
        <a:lstStyle/>
        <a:p>
          <a:endParaRPr lang="en-US"/>
        </a:p>
      </dgm:t>
    </dgm:pt>
    <dgm:pt modelId="{5A905F5B-D849-410D-9DF0-CD1F70290C28}" type="sibTrans" cxnId="{BFC145E4-B2A7-43D9-AE00-06F2BD8AC5CE}">
      <dgm:prSet/>
      <dgm:spPr/>
      <dgm:t>
        <a:bodyPr/>
        <a:lstStyle/>
        <a:p>
          <a:endParaRPr lang="en-US"/>
        </a:p>
      </dgm:t>
    </dgm:pt>
    <dgm:pt modelId="{14C4F73E-17AB-442C-B169-F79E07AFDF55}" type="pres">
      <dgm:prSet presAssocID="{7A704F06-69B1-492B-ACB5-980AA37E95F8}" presName="root" presStyleCnt="0">
        <dgm:presLayoutVars>
          <dgm:dir/>
          <dgm:resizeHandles val="exact"/>
        </dgm:presLayoutVars>
      </dgm:prSet>
      <dgm:spPr/>
    </dgm:pt>
    <dgm:pt modelId="{722A97E2-D827-4A68-8BA2-AB3C0ECFAFD5}" type="pres">
      <dgm:prSet presAssocID="{EA9D9CE7-9117-4B15-BB8F-7777CEBEF599}" presName="compNode" presStyleCnt="0"/>
      <dgm:spPr/>
    </dgm:pt>
    <dgm:pt modelId="{5D311DCE-B6AB-459C-8167-B7E907B5FB39}" type="pres">
      <dgm:prSet presAssocID="{EA9D9CE7-9117-4B15-BB8F-7777CEBEF59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4A9ECD3D-4578-4977-8D04-0BD574841E5A}" type="pres">
      <dgm:prSet presAssocID="{EA9D9CE7-9117-4B15-BB8F-7777CEBEF599}" presName="iconSpace" presStyleCnt="0"/>
      <dgm:spPr/>
    </dgm:pt>
    <dgm:pt modelId="{26CC3EF4-BBA9-4508-8FB4-9CC90E5E3322}" type="pres">
      <dgm:prSet presAssocID="{EA9D9CE7-9117-4B15-BB8F-7777CEBEF599}" presName="parTx" presStyleLbl="revTx" presStyleIdx="0" presStyleCnt="8">
        <dgm:presLayoutVars>
          <dgm:chMax val="0"/>
          <dgm:chPref val="0"/>
        </dgm:presLayoutVars>
      </dgm:prSet>
      <dgm:spPr/>
    </dgm:pt>
    <dgm:pt modelId="{FC372668-2419-47C9-9C1C-30BADA6381E9}" type="pres">
      <dgm:prSet presAssocID="{EA9D9CE7-9117-4B15-BB8F-7777CEBEF599}" presName="txSpace" presStyleCnt="0"/>
      <dgm:spPr/>
    </dgm:pt>
    <dgm:pt modelId="{861EB47A-E883-49F6-A73C-EFA1750200E6}" type="pres">
      <dgm:prSet presAssocID="{EA9D9CE7-9117-4B15-BB8F-7777CEBEF599}" presName="desTx" presStyleLbl="revTx" presStyleIdx="1" presStyleCnt="8">
        <dgm:presLayoutVars/>
      </dgm:prSet>
      <dgm:spPr/>
    </dgm:pt>
    <dgm:pt modelId="{BC136E41-036D-4261-9066-6612C0DD1F79}" type="pres">
      <dgm:prSet presAssocID="{8744801B-D07A-4E24-9CD0-378184184F2B}" presName="sibTrans" presStyleCnt="0"/>
      <dgm:spPr/>
    </dgm:pt>
    <dgm:pt modelId="{7060C383-FE78-422F-B97B-F36E7A8F7527}" type="pres">
      <dgm:prSet presAssocID="{45AEE7FF-E466-42DC-97BA-F5F8B9CC2FD2}" presName="compNode" presStyleCnt="0"/>
      <dgm:spPr/>
    </dgm:pt>
    <dgm:pt modelId="{FBC3049D-4DE0-48DE-9B42-023732666753}" type="pres">
      <dgm:prSet presAssocID="{45AEE7FF-E466-42DC-97BA-F5F8B9CC2FD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F847EB27-6267-475C-BB5B-A9D8C6EB2AD9}" type="pres">
      <dgm:prSet presAssocID="{45AEE7FF-E466-42DC-97BA-F5F8B9CC2FD2}" presName="iconSpace" presStyleCnt="0"/>
      <dgm:spPr/>
    </dgm:pt>
    <dgm:pt modelId="{A5FBAE96-60A5-45F3-811D-BFB3952BB239}" type="pres">
      <dgm:prSet presAssocID="{45AEE7FF-E466-42DC-97BA-F5F8B9CC2FD2}" presName="parTx" presStyleLbl="revTx" presStyleIdx="2" presStyleCnt="8">
        <dgm:presLayoutVars>
          <dgm:chMax val="0"/>
          <dgm:chPref val="0"/>
        </dgm:presLayoutVars>
      </dgm:prSet>
      <dgm:spPr/>
    </dgm:pt>
    <dgm:pt modelId="{7AE8FBAC-92E5-47BE-98AF-65CF3A718106}" type="pres">
      <dgm:prSet presAssocID="{45AEE7FF-E466-42DC-97BA-F5F8B9CC2FD2}" presName="txSpace" presStyleCnt="0"/>
      <dgm:spPr/>
    </dgm:pt>
    <dgm:pt modelId="{CF52BCBA-1812-42E6-82CC-00C2B93055C9}" type="pres">
      <dgm:prSet presAssocID="{45AEE7FF-E466-42DC-97BA-F5F8B9CC2FD2}" presName="desTx" presStyleLbl="revTx" presStyleIdx="3" presStyleCnt="8">
        <dgm:presLayoutVars/>
      </dgm:prSet>
      <dgm:spPr/>
    </dgm:pt>
    <dgm:pt modelId="{E9EF975F-8963-4BFF-9F4D-B7648DC0E53C}" type="pres">
      <dgm:prSet presAssocID="{2A45AFE1-CED6-4BA1-9DEB-05692747FDB5}" presName="sibTrans" presStyleCnt="0"/>
      <dgm:spPr/>
    </dgm:pt>
    <dgm:pt modelId="{E91985D4-9EC3-4FEE-AFB7-854FE1826FE2}" type="pres">
      <dgm:prSet presAssocID="{6921623E-D2EE-473F-AF91-6511A7CDBF86}" presName="compNode" presStyleCnt="0"/>
      <dgm:spPr/>
    </dgm:pt>
    <dgm:pt modelId="{6611FCE2-22E4-482D-9B01-0DECD15DA715}" type="pres">
      <dgm:prSet presAssocID="{6921623E-D2EE-473F-AF91-6511A7CDBF8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rbage"/>
        </a:ext>
      </dgm:extLst>
    </dgm:pt>
    <dgm:pt modelId="{62AACF1E-4160-4F4F-9B7F-C9B94D90A4A6}" type="pres">
      <dgm:prSet presAssocID="{6921623E-D2EE-473F-AF91-6511A7CDBF86}" presName="iconSpace" presStyleCnt="0"/>
      <dgm:spPr/>
    </dgm:pt>
    <dgm:pt modelId="{891756B9-7776-4984-AAD1-474DF6394EC7}" type="pres">
      <dgm:prSet presAssocID="{6921623E-D2EE-473F-AF91-6511A7CDBF86}" presName="parTx" presStyleLbl="revTx" presStyleIdx="4" presStyleCnt="8">
        <dgm:presLayoutVars>
          <dgm:chMax val="0"/>
          <dgm:chPref val="0"/>
        </dgm:presLayoutVars>
      </dgm:prSet>
      <dgm:spPr/>
    </dgm:pt>
    <dgm:pt modelId="{E03308A8-06EE-4A78-A07B-723057A79DCC}" type="pres">
      <dgm:prSet presAssocID="{6921623E-D2EE-473F-AF91-6511A7CDBF86}" presName="txSpace" presStyleCnt="0"/>
      <dgm:spPr/>
    </dgm:pt>
    <dgm:pt modelId="{21FE8999-8D5C-4394-AB16-E6E430884B71}" type="pres">
      <dgm:prSet presAssocID="{6921623E-D2EE-473F-AF91-6511A7CDBF86}" presName="desTx" presStyleLbl="revTx" presStyleIdx="5" presStyleCnt="8">
        <dgm:presLayoutVars/>
      </dgm:prSet>
      <dgm:spPr/>
    </dgm:pt>
    <dgm:pt modelId="{74184D17-F82B-4453-A91E-9293077B5F35}" type="pres">
      <dgm:prSet presAssocID="{5D6AB96C-BC83-4985-B2BB-28F0188B7740}" presName="sibTrans" presStyleCnt="0"/>
      <dgm:spPr/>
    </dgm:pt>
    <dgm:pt modelId="{9C99064B-4921-487F-BB2A-F94A8156CB31}" type="pres">
      <dgm:prSet presAssocID="{D33E6C8E-5BB2-4D6D-A81B-D9DA6AD014DA}" presName="compNode" presStyleCnt="0"/>
      <dgm:spPr/>
    </dgm:pt>
    <dgm:pt modelId="{1560CFAF-B66D-4B4A-920A-28E608DC9B75}" type="pres">
      <dgm:prSet presAssocID="{D33E6C8E-5BB2-4D6D-A81B-D9DA6AD014D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hredder"/>
        </a:ext>
      </dgm:extLst>
    </dgm:pt>
    <dgm:pt modelId="{417999B1-5908-493E-822B-75C3A4210E38}" type="pres">
      <dgm:prSet presAssocID="{D33E6C8E-5BB2-4D6D-A81B-D9DA6AD014DA}" presName="iconSpace" presStyleCnt="0"/>
      <dgm:spPr/>
    </dgm:pt>
    <dgm:pt modelId="{B0F5D0A1-843F-467D-A479-69318C732761}" type="pres">
      <dgm:prSet presAssocID="{D33E6C8E-5BB2-4D6D-A81B-D9DA6AD014DA}" presName="parTx" presStyleLbl="revTx" presStyleIdx="6" presStyleCnt="8">
        <dgm:presLayoutVars>
          <dgm:chMax val="0"/>
          <dgm:chPref val="0"/>
        </dgm:presLayoutVars>
      </dgm:prSet>
      <dgm:spPr/>
    </dgm:pt>
    <dgm:pt modelId="{B1F29492-C50E-4AFB-92F6-DF6B2B1E8E04}" type="pres">
      <dgm:prSet presAssocID="{D33E6C8E-5BB2-4D6D-A81B-D9DA6AD014DA}" presName="txSpace" presStyleCnt="0"/>
      <dgm:spPr/>
    </dgm:pt>
    <dgm:pt modelId="{A8377335-61C0-408D-8284-E81CECAB1956}" type="pres">
      <dgm:prSet presAssocID="{D33E6C8E-5BB2-4D6D-A81B-D9DA6AD014DA}" presName="desTx" presStyleLbl="revTx" presStyleIdx="7" presStyleCnt="8">
        <dgm:presLayoutVars/>
      </dgm:prSet>
      <dgm:spPr/>
    </dgm:pt>
  </dgm:ptLst>
  <dgm:cxnLst>
    <dgm:cxn modelId="{BA262123-76E1-0640-B8DA-7DBD234E6459}" type="presOf" srcId="{45AEE7FF-E466-42DC-97BA-F5F8B9CC2FD2}" destId="{A5FBAE96-60A5-45F3-811D-BFB3952BB239}" srcOrd="0" destOrd="0" presId="urn:microsoft.com/office/officeart/2018/5/layout/CenteredIconLabelDescriptionList"/>
    <dgm:cxn modelId="{ED788637-9D39-B046-A8D2-900D7EC7D60E}" type="presOf" srcId="{6921623E-D2EE-473F-AF91-6511A7CDBF86}" destId="{891756B9-7776-4984-AAD1-474DF6394EC7}" srcOrd="0" destOrd="0" presId="urn:microsoft.com/office/officeart/2018/5/layout/CenteredIconLabelDescriptionList"/>
    <dgm:cxn modelId="{6798C257-8032-458B-92BF-CBAD9584B053}" srcId="{7A704F06-69B1-492B-ACB5-980AA37E95F8}" destId="{EA9D9CE7-9117-4B15-BB8F-7777CEBEF599}" srcOrd="0" destOrd="0" parTransId="{FF94C027-650B-445B-A631-2FC29B112ACC}" sibTransId="{8744801B-D07A-4E24-9CD0-378184184F2B}"/>
    <dgm:cxn modelId="{140BEE5D-BF6E-4422-9B8A-3EA2B95C96E6}" srcId="{7A704F06-69B1-492B-ACB5-980AA37E95F8}" destId="{6921623E-D2EE-473F-AF91-6511A7CDBF86}" srcOrd="2" destOrd="0" parTransId="{AA2A1169-6964-4195-BBB6-3401C41A7B3E}" sibTransId="{5D6AB96C-BC83-4985-B2BB-28F0188B7740}"/>
    <dgm:cxn modelId="{385A797D-0DF6-3E44-99B6-FCEC1015B243}" type="presOf" srcId="{D33E6C8E-5BB2-4D6D-A81B-D9DA6AD014DA}" destId="{B0F5D0A1-843F-467D-A479-69318C732761}" srcOrd="0" destOrd="0" presId="urn:microsoft.com/office/officeart/2018/5/layout/CenteredIconLabelDescriptionList"/>
    <dgm:cxn modelId="{312E1A8F-6565-4711-A0C6-FB75641E417D}" type="presOf" srcId="{7A704F06-69B1-492B-ACB5-980AA37E95F8}" destId="{14C4F73E-17AB-442C-B169-F79E07AFDF55}" srcOrd="0" destOrd="0" presId="urn:microsoft.com/office/officeart/2018/5/layout/CenteredIconLabelDescriptionList"/>
    <dgm:cxn modelId="{B55B98BB-D045-4840-A7EB-113D08D4FD13}" type="presOf" srcId="{EA9D9CE7-9117-4B15-BB8F-7777CEBEF599}" destId="{26CC3EF4-BBA9-4508-8FB4-9CC90E5E3322}" srcOrd="0" destOrd="0" presId="urn:microsoft.com/office/officeart/2018/5/layout/CenteredIconLabelDescriptionList"/>
    <dgm:cxn modelId="{E7A21ED6-0E75-4BC8-BCD8-A4B35514A662}" srcId="{7A704F06-69B1-492B-ACB5-980AA37E95F8}" destId="{45AEE7FF-E466-42DC-97BA-F5F8B9CC2FD2}" srcOrd="1" destOrd="0" parTransId="{3089B3E6-E000-4DE9-8558-2DEF228C9515}" sibTransId="{2A45AFE1-CED6-4BA1-9DEB-05692747FDB5}"/>
    <dgm:cxn modelId="{BFC145E4-B2A7-43D9-AE00-06F2BD8AC5CE}" srcId="{7A704F06-69B1-492B-ACB5-980AA37E95F8}" destId="{D33E6C8E-5BB2-4D6D-A81B-D9DA6AD014DA}" srcOrd="3" destOrd="0" parTransId="{6C7D3C16-EEB9-4AB0-BB57-0B96FEBC5FC0}" sibTransId="{5A905F5B-D849-410D-9DF0-CD1F70290C28}"/>
    <dgm:cxn modelId="{94961BF4-B073-E64A-AD50-0AF2B0EC6210}" type="presParOf" srcId="{14C4F73E-17AB-442C-B169-F79E07AFDF55}" destId="{722A97E2-D827-4A68-8BA2-AB3C0ECFAFD5}" srcOrd="0" destOrd="0" presId="urn:microsoft.com/office/officeart/2018/5/layout/CenteredIconLabelDescriptionList"/>
    <dgm:cxn modelId="{D60ED7A0-2D43-2249-A651-E8590835F6B0}" type="presParOf" srcId="{722A97E2-D827-4A68-8BA2-AB3C0ECFAFD5}" destId="{5D311DCE-B6AB-459C-8167-B7E907B5FB39}" srcOrd="0" destOrd="0" presId="urn:microsoft.com/office/officeart/2018/5/layout/CenteredIconLabelDescriptionList"/>
    <dgm:cxn modelId="{7B07AF31-A2DD-E545-B94A-6176BC4B3436}" type="presParOf" srcId="{722A97E2-D827-4A68-8BA2-AB3C0ECFAFD5}" destId="{4A9ECD3D-4578-4977-8D04-0BD574841E5A}" srcOrd="1" destOrd="0" presId="urn:microsoft.com/office/officeart/2018/5/layout/CenteredIconLabelDescriptionList"/>
    <dgm:cxn modelId="{4ADEB804-0BCC-1B48-8C1A-E644AB11BE12}" type="presParOf" srcId="{722A97E2-D827-4A68-8BA2-AB3C0ECFAFD5}" destId="{26CC3EF4-BBA9-4508-8FB4-9CC90E5E3322}" srcOrd="2" destOrd="0" presId="urn:microsoft.com/office/officeart/2018/5/layout/CenteredIconLabelDescriptionList"/>
    <dgm:cxn modelId="{FE0E289D-EDC8-5446-99C3-4FCD646800DF}" type="presParOf" srcId="{722A97E2-D827-4A68-8BA2-AB3C0ECFAFD5}" destId="{FC372668-2419-47C9-9C1C-30BADA6381E9}" srcOrd="3" destOrd="0" presId="urn:microsoft.com/office/officeart/2018/5/layout/CenteredIconLabelDescriptionList"/>
    <dgm:cxn modelId="{03726A8A-3C47-F247-B5CE-5C0067952C48}" type="presParOf" srcId="{722A97E2-D827-4A68-8BA2-AB3C0ECFAFD5}" destId="{861EB47A-E883-49F6-A73C-EFA1750200E6}" srcOrd="4" destOrd="0" presId="urn:microsoft.com/office/officeart/2018/5/layout/CenteredIconLabelDescriptionList"/>
    <dgm:cxn modelId="{34F3091A-B225-774A-A954-A284D26555E5}" type="presParOf" srcId="{14C4F73E-17AB-442C-B169-F79E07AFDF55}" destId="{BC136E41-036D-4261-9066-6612C0DD1F79}" srcOrd="1" destOrd="0" presId="urn:microsoft.com/office/officeart/2018/5/layout/CenteredIconLabelDescriptionList"/>
    <dgm:cxn modelId="{FA5C97B6-7F16-E041-9673-41EAAEFCF494}" type="presParOf" srcId="{14C4F73E-17AB-442C-B169-F79E07AFDF55}" destId="{7060C383-FE78-422F-B97B-F36E7A8F7527}" srcOrd="2" destOrd="0" presId="urn:microsoft.com/office/officeart/2018/5/layout/CenteredIconLabelDescriptionList"/>
    <dgm:cxn modelId="{74A4FB7E-A035-F047-B208-BE34BD41AA87}" type="presParOf" srcId="{7060C383-FE78-422F-B97B-F36E7A8F7527}" destId="{FBC3049D-4DE0-48DE-9B42-023732666753}" srcOrd="0" destOrd="0" presId="urn:microsoft.com/office/officeart/2018/5/layout/CenteredIconLabelDescriptionList"/>
    <dgm:cxn modelId="{014470D2-C455-D443-A773-A4961185E8B5}" type="presParOf" srcId="{7060C383-FE78-422F-B97B-F36E7A8F7527}" destId="{F847EB27-6267-475C-BB5B-A9D8C6EB2AD9}" srcOrd="1" destOrd="0" presId="urn:microsoft.com/office/officeart/2018/5/layout/CenteredIconLabelDescriptionList"/>
    <dgm:cxn modelId="{A4BC1D49-3D66-DD4D-BBD3-875300CA9313}" type="presParOf" srcId="{7060C383-FE78-422F-B97B-F36E7A8F7527}" destId="{A5FBAE96-60A5-45F3-811D-BFB3952BB239}" srcOrd="2" destOrd="0" presId="urn:microsoft.com/office/officeart/2018/5/layout/CenteredIconLabelDescriptionList"/>
    <dgm:cxn modelId="{388C332A-3D57-F845-9F2C-A2EB506214EE}" type="presParOf" srcId="{7060C383-FE78-422F-B97B-F36E7A8F7527}" destId="{7AE8FBAC-92E5-47BE-98AF-65CF3A718106}" srcOrd="3" destOrd="0" presId="urn:microsoft.com/office/officeart/2018/5/layout/CenteredIconLabelDescriptionList"/>
    <dgm:cxn modelId="{A4FF5E04-067C-6041-BB6E-1478DCBDAB48}" type="presParOf" srcId="{7060C383-FE78-422F-B97B-F36E7A8F7527}" destId="{CF52BCBA-1812-42E6-82CC-00C2B93055C9}" srcOrd="4" destOrd="0" presId="urn:microsoft.com/office/officeart/2018/5/layout/CenteredIconLabelDescriptionList"/>
    <dgm:cxn modelId="{418C3941-DF47-F54C-B865-24571FAF8BB6}" type="presParOf" srcId="{14C4F73E-17AB-442C-B169-F79E07AFDF55}" destId="{E9EF975F-8963-4BFF-9F4D-B7648DC0E53C}" srcOrd="3" destOrd="0" presId="urn:microsoft.com/office/officeart/2018/5/layout/CenteredIconLabelDescriptionList"/>
    <dgm:cxn modelId="{7B42833F-7DC8-424E-8D80-7814772B9E61}" type="presParOf" srcId="{14C4F73E-17AB-442C-B169-F79E07AFDF55}" destId="{E91985D4-9EC3-4FEE-AFB7-854FE1826FE2}" srcOrd="4" destOrd="0" presId="urn:microsoft.com/office/officeart/2018/5/layout/CenteredIconLabelDescriptionList"/>
    <dgm:cxn modelId="{76058E68-1EB3-3448-806B-EA58EE8C98F9}" type="presParOf" srcId="{E91985D4-9EC3-4FEE-AFB7-854FE1826FE2}" destId="{6611FCE2-22E4-482D-9B01-0DECD15DA715}" srcOrd="0" destOrd="0" presId="urn:microsoft.com/office/officeart/2018/5/layout/CenteredIconLabelDescriptionList"/>
    <dgm:cxn modelId="{CB4774F3-3DD3-8A43-B259-DE42D537C429}" type="presParOf" srcId="{E91985D4-9EC3-4FEE-AFB7-854FE1826FE2}" destId="{62AACF1E-4160-4F4F-9B7F-C9B94D90A4A6}" srcOrd="1" destOrd="0" presId="urn:microsoft.com/office/officeart/2018/5/layout/CenteredIconLabelDescriptionList"/>
    <dgm:cxn modelId="{7D3EB328-6142-F243-8A91-705671E03E5C}" type="presParOf" srcId="{E91985D4-9EC3-4FEE-AFB7-854FE1826FE2}" destId="{891756B9-7776-4984-AAD1-474DF6394EC7}" srcOrd="2" destOrd="0" presId="urn:microsoft.com/office/officeart/2018/5/layout/CenteredIconLabelDescriptionList"/>
    <dgm:cxn modelId="{4D4DF912-1605-AA49-84A5-A0458A85C7B8}" type="presParOf" srcId="{E91985D4-9EC3-4FEE-AFB7-854FE1826FE2}" destId="{E03308A8-06EE-4A78-A07B-723057A79DCC}" srcOrd="3" destOrd="0" presId="urn:microsoft.com/office/officeart/2018/5/layout/CenteredIconLabelDescriptionList"/>
    <dgm:cxn modelId="{31C6668A-3109-5B44-8412-DE30B6DE8A88}" type="presParOf" srcId="{E91985D4-9EC3-4FEE-AFB7-854FE1826FE2}" destId="{21FE8999-8D5C-4394-AB16-E6E430884B71}" srcOrd="4" destOrd="0" presId="urn:microsoft.com/office/officeart/2018/5/layout/CenteredIconLabelDescriptionList"/>
    <dgm:cxn modelId="{B523EAE8-C210-A742-A1C3-F71D7AFC5FAE}" type="presParOf" srcId="{14C4F73E-17AB-442C-B169-F79E07AFDF55}" destId="{74184D17-F82B-4453-A91E-9293077B5F35}" srcOrd="5" destOrd="0" presId="urn:microsoft.com/office/officeart/2018/5/layout/CenteredIconLabelDescriptionList"/>
    <dgm:cxn modelId="{A1FA8259-DD30-4F4C-B693-99BD6E9A076D}" type="presParOf" srcId="{14C4F73E-17AB-442C-B169-F79E07AFDF55}" destId="{9C99064B-4921-487F-BB2A-F94A8156CB31}" srcOrd="6" destOrd="0" presId="urn:microsoft.com/office/officeart/2018/5/layout/CenteredIconLabelDescriptionList"/>
    <dgm:cxn modelId="{12422D25-E0A5-C44A-A9D7-352AF6764F48}" type="presParOf" srcId="{9C99064B-4921-487F-BB2A-F94A8156CB31}" destId="{1560CFAF-B66D-4B4A-920A-28E608DC9B75}" srcOrd="0" destOrd="0" presId="urn:microsoft.com/office/officeart/2018/5/layout/CenteredIconLabelDescriptionList"/>
    <dgm:cxn modelId="{FF03DA17-97F2-804B-8213-E6C7C0CF5440}" type="presParOf" srcId="{9C99064B-4921-487F-BB2A-F94A8156CB31}" destId="{417999B1-5908-493E-822B-75C3A4210E38}" srcOrd="1" destOrd="0" presId="urn:microsoft.com/office/officeart/2018/5/layout/CenteredIconLabelDescriptionList"/>
    <dgm:cxn modelId="{9ABD0BA6-76AF-2749-95A1-77F9DB1742F0}" type="presParOf" srcId="{9C99064B-4921-487F-BB2A-F94A8156CB31}" destId="{B0F5D0A1-843F-467D-A479-69318C732761}" srcOrd="2" destOrd="0" presId="urn:microsoft.com/office/officeart/2018/5/layout/CenteredIconLabelDescriptionList"/>
    <dgm:cxn modelId="{8B22A8F6-7108-8643-BACD-608BFDE17C7D}" type="presParOf" srcId="{9C99064B-4921-487F-BB2A-F94A8156CB31}" destId="{B1F29492-C50E-4AFB-92F6-DF6B2B1E8E04}" srcOrd="3" destOrd="0" presId="urn:microsoft.com/office/officeart/2018/5/layout/CenteredIconLabelDescriptionList"/>
    <dgm:cxn modelId="{91A5803D-C7A6-7147-9356-01F7D55B8A89}" type="presParOf" srcId="{9C99064B-4921-487F-BB2A-F94A8156CB31}" destId="{A8377335-61C0-408D-8284-E81CECAB1956}" srcOrd="4" destOrd="0" presId="urn:microsoft.com/office/officeart/2018/5/layout/CenteredIconLabelDescrip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330C425-A425-46F5-8C88-95807C17ECB1}"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B44BBF5C-27DC-4353-A028-DB2B7A233EB3}">
      <dgm:prSet/>
      <dgm:spPr/>
      <dgm:t>
        <a:bodyPr/>
        <a:lstStyle/>
        <a:p>
          <a:r>
            <a:rPr lang="en-US" b="1" i="0" baseline="0" dirty="0"/>
            <a:t>Deleted File Recovery:</a:t>
          </a:r>
          <a:r>
            <a:rPr lang="en-US" b="0" i="0" baseline="0" dirty="0"/>
            <a:t> Only 80% Accuracy.</a:t>
          </a:r>
          <a:endParaRPr lang="en-US" dirty="0"/>
        </a:p>
      </dgm:t>
    </dgm:pt>
    <dgm:pt modelId="{293351C4-5BEE-480C-80B2-2DBA6835767B}" type="parTrans" cxnId="{907A18EE-D53C-4DF8-9D41-062D763B0AAF}">
      <dgm:prSet/>
      <dgm:spPr/>
      <dgm:t>
        <a:bodyPr/>
        <a:lstStyle/>
        <a:p>
          <a:endParaRPr lang="en-US"/>
        </a:p>
      </dgm:t>
    </dgm:pt>
    <dgm:pt modelId="{3FD717BB-F289-4410-8EDB-EAA7DFF8F36F}" type="sibTrans" cxnId="{907A18EE-D53C-4DF8-9D41-062D763B0AAF}">
      <dgm:prSet phldrT="01" phldr="0"/>
      <dgm:spPr/>
      <dgm:t>
        <a:bodyPr/>
        <a:lstStyle/>
        <a:p>
          <a:r>
            <a:rPr lang="en-US"/>
            <a:t>01</a:t>
          </a:r>
        </a:p>
      </dgm:t>
    </dgm:pt>
    <dgm:pt modelId="{169F4546-2157-4980-A906-CFC1973E7868}">
      <dgm:prSet/>
      <dgm:spPr/>
      <dgm:t>
        <a:bodyPr/>
        <a:lstStyle/>
        <a:p>
          <a:r>
            <a:rPr lang="en-US" b="1" i="0" baseline="0"/>
            <a:t>The "Shift + Delete" Failure for Secrets.txt:</a:t>
          </a:r>
          <a:endParaRPr lang="en-US"/>
        </a:p>
      </dgm:t>
    </dgm:pt>
    <dgm:pt modelId="{9D4F2A00-0736-4AB1-B4D3-BB6C50771F91}" type="parTrans" cxnId="{AD505770-DED5-4BD1-AB1A-41EDC4E0AC0C}">
      <dgm:prSet/>
      <dgm:spPr/>
      <dgm:t>
        <a:bodyPr/>
        <a:lstStyle/>
        <a:p>
          <a:endParaRPr lang="en-US"/>
        </a:p>
      </dgm:t>
    </dgm:pt>
    <dgm:pt modelId="{98C71075-C7E8-4CA5-91D7-D14272F7D9F8}" type="sibTrans" cxnId="{AD505770-DED5-4BD1-AB1A-41EDC4E0AC0C}">
      <dgm:prSet phldrT="02" phldr="0"/>
      <dgm:spPr/>
      <dgm:t>
        <a:bodyPr/>
        <a:lstStyle/>
        <a:p>
          <a:r>
            <a:rPr lang="en-US"/>
            <a:t>02</a:t>
          </a:r>
        </a:p>
      </dgm:t>
    </dgm:pt>
    <dgm:pt modelId="{D7E27151-09D6-40E2-9635-85C990D09F4C}">
      <dgm:prSet/>
      <dgm:spPr/>
      <dgm:t>
        <a:bodyPr/>
        <a:lstStyle/>
        <a:p>
          <a:r>
            <a:rPr lang="en-US" b="1" i="0" baseline="0" dirty="0"/>
            <a:t>Metadata:</a:t>
          </a:r>
          <a:r>
            <a:rPr lang="en-US" b="0" i="0" baseline="0" dirty="0"/>
            <a:t> Present (File listed as recovered).</a:t>
          </a:r>
          <a:endParaRPr lang="en-US" dirty="0"/>
        </a:p>
      </dgm:t>
    </dgm:pt>
    <dgm:pt modelId="{FBC0230E-C589-4DA9-BF24-C9181AA47D9C}" type="parTrans" cxnId="{AA12FC9F-0885-4320-B0F1-56BDF7DC6E67}">
      <dgm:prSet/>
      <dgm:spPr/>
      <dgm:t>
        <a:bodyPr/>
        <a:lstStyle/>
        <a:p>
          <a:endParaRPr lang="en-US"/>
        </a:p>
      </dgm:t>
    </dgm:pt>
    <dgm:pt modelId="{D5921840-FDCE-47C5-BE34-0FEAB740ECDA}" type="sibTrans" cxnId="{AA12FC9F-0885-4320-B0F1-56BDF7DC6E67}">
      <dgm:prSet/>
      <dgm:spPr/>
      <dgm:t>
        <a:bodyPr/>
        <a:lstStyle/>
        <a:p>
          <a:endParaRPr lang="en-US"/>
        </a:p>
      </dgm:t>
    </dgm:pt>
    <dgm:pt modelId="{420035A1-CF81-495E-B60C-981CC32CFB8B}">
      <dgm:prSet/>
      <dgm:spPr/>
      <dgm:t>
        <a:bodyPr/>
        <a:lstStyle/>
        <a:p>
          <a:r>
            <a:rPr lang="en-US" b="1" i="0" baseline="0"/>
            <a:t>Content:</a:t>
          </a:r>
          <a:r>
            <a:rPr lang="en-US" b="0" i="0" baseline="0"/>
            <a:t> Corrupted (Hex view shows binary noise).</a:t>
          </a:r>
          <a:endParaRPr lang="en-US"/>
        </a:p>
      </dgm:t>
    </dgm:pt>
    <dgm:pt modelId="{7237A420-AC22-4274-A655-DB7E7A376036}" type="parTrans" cxnId="{14DC74A6-AC78-4ABF-B049-F634F9781901}">
      <dgm:prSet/>
      <dgm:spPr/>
      <dgm:t>
        <a:bodyPr/>
        <a:lstStyle/>
        <a:p>
          <a:endParaRPr lang="en-US"/>
        </a:p>
      </dgm:t>
    </dgm:pt>
    <dgm:pt modelId="{4FB22D30-7FD6-4C86-ACC9-189B3457B50B}" type="sibTrans" cxnId="{14DC74A6-AC78-4ABF-B049-F634F9781901}">
      <dgm:prSet/>
      <dgm:spPr/>
      <dgm:t>
        <a:bodyPr/>
        <a:lstStyle/>
        <a:p>
          <a:endParaRPr lang="en-US"/>
        </a:p>
      </dgm:t>
    </dgm:pt>
    <dgm:pt modelId="{92454E0C-CC63-4784-83EE-2FC5E0B62D5F}">
      <dgm:prSet/>
      <dgm:spPr/>
      <dgm:t>
        <a:bodyPr/>
        <a:lstStyle/>
        <a:p>
          <a:r>
            <a:rPr lang="en-US" b="1" i="0" baseline="0" dirty="0"/>
            <a:t>System Files:</a:t>
          </a:r>
          <a:r>
            <a:rPr lang="en-US" b="0" i="0" baseline="0" dirty="0"/>
            <a:t> desktop.ini was completely lost/overwritten.</a:t>
          </a:r>
          <a:endParaRPr lang="en-US" dirty="0"/>
        </a:p>
      </dgm:t>
    </dgm:pt>
    <dgm:pt modelId="{485F4A89-582E-41ED-A0BD-986F011DC4AC}" type="parTrans" cxnId="{07A8FFAA-5054-4666-A4D5-511814EB8235}">
      <dgm:prSet/>
      <dgm:spPr/>
      <dgm:t>
        <a:bodyPr/>
        <a:lstStyle/>
        <a:p>
          <a:endParaRPr lang="en-US"/>
        </a:p>
      </dgm:t>
    </dgm:pt>
    <dgm:pt modelId="{FCF3FF91-94EC-43AF-A538-87A7CE4B0E4D}" type="sibTrans" cxnId="{07A8FFAA-5054-4666-A4D5-511814EB8235}">
      <dgm:prSet phldrT="03" phldr="0"/>
      <dgm:spPr/>
      <dgm:t>
        <a:bodyPr/>
        <a:lstStyle/>
        <a:p>
          <a:r>
            <a:rPr lang="en-US"/>
            <a:t>03</a:t>
          </a:r>
        </a:p>
      </dgm:t>
    </dgm:pt>
    <dgm:pt modelId="{2307BCF6-1468-AC4E-A930-20219DB574F5}" type="pres">
      <dgm:prSet presAssocID="{1330C425-A425-46F5-8C88-95807C17ECB1}" presName="Name0" presStyleCnt="0">
        <dgm:presLayoutVars>
          <dgm:animLvl val="lvl"/>
          <dgm:resizeHandles val="exact"/>
        </dgm:presLayoutVars>
      </dgm:prSet>
      <dgm:spPr/>
    </dgm:pt>
    <dgm:pt modelId="{50695C12-7C59-D847-88FD-292097E87C02}" type="pres">
      <dgm:prSet presAssocID="{B44BBF5C-27DC-4353-A028-DB2B7A233EB3}" presName="compositeNode" presStyleCnt="0">
        <dgm:presLayoutVars>
          <dgm:bulletEnabled val="1"/>
        </dgm:presLayoutVars>
      </dgm:prSet>
      <dgm:spPr/>
    </dgm:pt>
    <dgm:pt modelId="{5D5432F8-E835-8644-ACF7-D58A3B20D21C}" type="pres">
      <dgm:prSet presAssocID="{B44BBF5C-27DC-4353-A028-DB2B7A233EB3}" presName="bgRect" presStyleLbl="alignNode1" presStyleIdx="0" presStyleCnt="3"/>
      <dgm:spPr/>
    </dgm:pt>
    <dgm:pt modelId="{59F6EC43-FDD1-9E4C-A0CA-12603C11979A}" type="pres">
      <dgm:prSet presAssocID="{3FD717BB-F289-4410-8EDB-EAA7DFF8F36F}" presName="sibTransNodeRect" presStyleLbl="alignNode1" presStyleIdx="0" presStyleCnt="3">
        <dgm:presLayoutVars>
          <dgm:chMax val="0"/>
          <dgm:bulletEnabled val="1"/>
        </dgm:presLayoutVars>
      </dgm:prSet>
      <dgm:spPr/>
    </dgm:pt>
    <dgm:pt modelId="{527B1E67-38D3-5A4A-8DBC-9C7C23D5CDFE}" type="pres">
      <dgm:prSet presAssocID="{B44BBF5C-27DC-4353-A028-DB2B7A233EB3}" presName="nodeRect" presStyleLbl="alignNode1" presStyleIdx="0" presStyleCnt="3">
        <dgm:presLayoutVars>
          <dgm:bulletEnabled val="1"/>
        </dgm:presLayoutVars>
      </dgm:prSet>
      <dgm:spPr/>
    </dgm:pt>
    <dgm:pt modelId="{B19D7B14-BC44-274B-8533-AD728708ECCC}" type="pres">
      <dgm:prSet presAssocID="{3FD717BB-F289-4410-8EDB-EAA7DFF8F36F}" presName="sibTrans" presStyleCnt="0"/>
      <dgm:spPr/>
    </dgm:pt>
    <dgm:pt modelId="{1E01B41A-094E-9846-8736-C131343D8F16}" type="pres">
      <dgm:prSet presAssocID="{169F4546-2157-4980-A906-CFC1973E7868}" presName="compositeNode" presStyleCnt="0">
        <dgm:presLayoutVars>
          <dgm:bulletEnabled val="1"/>
        </dgm:presLayoutVars>
      </dgm:prSet>
      <dgm:spPr/>
    </dgm:pt>
    <dgm:pt modelId="{6349DDEE-A487-3546-8004-26D7F9D35969}" type="pres">
      <dgm:prSet presAssocID="{169F4546-2157-4980-A906-CFC1973E7868}" presName="bgRect" presStyleLbl="alignNode1" presStyleIdx="1" presStyleCnt="3"/>
      <dgm:spPr/>
    </dgm:pt>
    <dgm:pt modelId="{200221D1-B9FA-0549-BECA-1A3E1A3ED429}" type="pres">
      <dgm:prSet presAssocID="{98C71075-C7E8-4CA5-91D7-D14272F7D9F8}" presName="sibTransNodeRect" presStyleLbl="alignNode1" presStyleIdx="1" presStyleCnt="3">
        <dgm:presLayoutVars>
          <dgm:chMax val="0"/>
          <dgm:bulletEnabled val="1"/>
        </dgm:presLayoutVars>
      </dgm:prSet>
      <dgm:spPr/>
    </dgm:pt>
    <dgm:pt modelId="{AA7598D3-7716-A642-8C85-86307412929E}" type="pres">
      <dgm:prSet presAssocID="{169F4546-2157-4980-A906-CFC1973E7868}" presName="nodeRect" presStyleLbl="alignNode1" presStyleIdx="1" presStyleCnt="3">
        <dgm:presLayoutVars>
          <dgm:bulletEnabled val="1"/>
        </dgm:presLayoutVars>
      </dgm:prSet>
      <dgm:spPr/>
    </dgm:pt>
    <dgm:pt modelId="{510EC4F9-F325-CA4B-B709-F7C409DC61E1}" type="pres">
      <dgm:prSet presAssocID="{98C71075-C7E8-4CA5-91D7-D14272F7D9F8}" presName="sibTrans" presStyleCnt="0"/>
      <dgm:spPr/>
    </dgm:pt>
    <dgm:pt modelId="{19741FC6-4B97-3A46-B855-BF51DD3D20DD}" type="pres">
      <dgm:prSet presAssocID="{92454E0C-CC63-4784-83EE-2FC5E0B62D5F}" presName="compositeNode" presStyleCnt="0">
        <dgm:presLayoutVars>
          <dgm:bulletEnabled val="1"/>
        </dgm:presLayoutVars>
      </dgm:prSet>
      <dgm:spPr/>
    </dgm:pt>
    <dgm:pt modelId="{4B694667-139F-AE40-944E-E0EB929E9928}" type="pres">
      <dgm:prSet presAssocID="{92454E0C-CC63-4784-83EE-2FC5E0B62D5F}" presName="bgRect" presStyleLbl="alignNode1" presStyleIdx="2" presStyleCnt="3"/>
      <dgm:spPr/>
    </dgm:pt>
    <dgm:pt modelId="{D83A9B23-62DA-5F4A-BD61-ADD88C251F86}" type="pres">
      <dgm:prSet presAssocID="{FCF3FF91-94EC-43AF-A538-87A7CE4B0E4D}" presName="sibTransNodeRect" presStyleLbl="alignNode1" presStyleIdx="2" presStyleCnt="3">
        <dgm:presLayoutVars>
          <dgm:chMax val="0"/>
          <dgm:bulletEnabled val="1"/>
        </dgm:presLayoutVars>
      </dgm:prSet>
      <dgm:spPr/>
    </dgm:pt>
    <dgm:pt modelId="{9949D20E-04C9-7345-8EA9-A3793E09AE6B}" type="pres">
      <dgm:prSet presAssocID="{92454E0C-CC63-4784-83EE-2FC5E0B62D5F}" presName="nodeRect" presStyleLbl="alignNode1" presStyleIdx="2" presStyleCnt="3">
        <dgm:presLayoutVars>
          <dgm:bulletEnabled val="1"/>
        </dgm:presLayoutVars>
      </dgm:prSet>
      <dgm:spPr/>
    </dgm:pt>
  </dgm:ptLst>
  <dgm:cxnLst>
    <dgm:cxn modelId="{0F94DB3E-3536-4F45-A7BD-433BF4AC6C25}" type="presOf" srcId="{420035A1-CF81-495E-B60C-981CC32CFB8B}" destId="{AA7598D3-7716-A642-8C85-86307412929E}" srcOrd="0" destOrd="2" presId="urn:microsoft.com/office/officeart/2016/7/layout/LinearBlockProcessNumbered"/>
    <dgm:cxn modelId="{E2D2C045-9846-5948-8FB0-A11E1975D545}" type="presOf" srcId="{98C71075-C7E8-4CA5-91D7-D14272F7D9F8}" destId="{200221D1-B9FA-0549-BECA-1A3E1A3ED429}" srcOrd="0" destOrd="0" presId="urn:microsoft.com/office/officeart/2016/7/layout/LinearBlockProcessNumbered"/>
    <dgm:cxn modelId="{BBCAC353-CE6C-9649-B8BD-697095A55A93}" type="presOf" srcId="{D7E27151-09D6-40E2-9635-85C990D09F4C}" destId="{AA7598D3-7716-A642-8C85-86307412929E}" srcOrd="0" destOrd="1" presId="urn:microsoft.com/office/officeart/2016/7/layout/LinearBlockProcessNumbered"/>
    <dgm:cxn modelId="{C0DBBE5B-8BF1-664F-9DAE-34F7EEB09E47}" type="presOf" srcId="{FCF3FF91-94EC-43AF-A538-87A7CE4B0E4D}" destId="{D83A9B23-62DA-5F4A-BD61-ADD88C251F86}" srcOrd="0" destOrd="0" presId="urn:microsoft.com/office/officeart/2016/7/layout/LinearBlockProcessNumbered"/>
    <dgm:cxn modelId="{58C60A67-1F01-C640-955B-EE596CE92DF3}" type="presOf" srcId="{B44BBF5C-27DC-4353-A028-DB2B7A233EB3}" destId="{527B1E67-38D3-5A4A-8DBC-9C7C23D5CDFE}" srcOrd="1" destOrd="0" presId="urn:microsoft.com/office/officeart/2016/7/layout/LinearBlockProcessNumbered"/>
    <dgm:cxn modelId="{AD505770-DED5-4BD1-AB1A-41EDC4E0AC0C}" srcId="{1330C425-A425-46F5-8C88-95807C17ECB1}" destId="{169F4546-2157-4980-A906-CFC1973E7868}" srcOrd="1" destOrd="0" parTransId="{9D4F2A00-0736-4AB1-B4D3-BB6C50771F91}" sibTransId="{98C71075-C7E8-4CA5-91D7-D14272F7D9F8}"/>
    <dgm:cxn modelId="{FBBE818F-DC3E-6148-B591-4B68DCF8F416}" type="presOf" srcId="{1330C425-A425-46F5-8C88-95807C17ECB1}" destId="{2307BCF6-1468-AC4E-A930-20219DB574F5}" srcOrd="0" destOrd="0" presId="urn:microsoft.com/office/officeart/2016/7/layout/LinearBlockProcessNumbered"/>
    <dgm:cxn modelId="{5597C495-C3A9-4C4F-9289-F6B760C90026}" type="presOf" srcId="{3FD717BB-F289-4410-8EDB-EAA7DFF8F36F}" destId="{59F6EC43-FDD1-9E4C-A0CA-12603C11979A}" srcOrd="0" destOrd="0" presId="urn:microsoft.com/office/officeart/2016/7/layout/LinearBlockProcessNumbered"/>
    <dgm:cxn modelId="{AA12FC9F-0885-4320-B0F1-56BDF7DC6E67}" srcId="{169F4546-2157-4980-A906-CFC1973E7868}" destId="{D7E27151-09D6-40E2-9635-85C990D09F4C}" srcOrd="0" destOrd="0" parTransId="{FBC0230E-C589-4DA9-BF24-C9181AA47D9C}" sibTransId="{D5921840-FDCE-47C5-BE34-0FEAB740ECDA}"/>
    <dgm:cxn modelId="{14DC74A6-AC78-4ABF-B049-F634F9781901}" srcId="{169F4546-2157-4980-A906-CFC1973E7868}" destId="{420035A1-CF81-495E-B60C-981CC32CFB8B}" srcOrd="1" destOrd="0" parTransId="{7237A420-AC22-4274-A655-DB7E7A376036}" sibTransId="{4FB22D30-7FD6-4C86-ACC9-189B3457B50B}"/>
    <dgm:cxn modelId="{07A8FFAA-5054-4666-A4D5-511814EB8235}" srcId="{1330C425-A425-46F5-8C88-95807C17ECB1}" destId="{92454E0C-CC63-4784-83EE-2FC5E0B62D5F}" srcOrd="2" destOrd="0" parTransId="{485F4A89-582E-41ED-A0BD-986F011DC4AC}" sibTransId="{FCF3FF91-94EC-43AF-A538-87A7CE4B0E4D}"/>
    <dgm:cxn modelId="{18AD91B7-CA17-EC4F-A305-31C80A67FF22}" type="presOf" srcId="{92454E0C-CC63-4784-83EE-2FC5E0B62D5F}" destId="{9949D20E-04C9-7345-8EA9-A3793E09AE6B}" srcOrd="1" destOrd="0" presId="urn:microsoft.com/office/officeart/2016/7/layout/LinearBlockProcessNumbered"/>
    <dgm:cxn modelId="{FDD604BA-C859-244F-8E96-260DA7E27561}" type="presOf" srcId="{B44BBF5C-27DC-4353-A028-DB2B7A233EB3}" destId="{5D5432F8-E835-8644-ACF7-D58A3B20D21C}" srcOrd="0" destOrd="0" presId="urn:microsoft.com/office/officeart/2016/7/layout/LinearBlockProcessNumbered"/>
    <dgm:cxn modelId="{34FB80D3-6234-7340-ACE6-900C794E39BA}" type="presOf" srcId="{169F4546-2157-4980-A906-CFC1973E7868}" destId="{AA7598D3-7716-A642-8C85-86307412929E}" srcOrd="1" destOrd="0" presId="urn:microsoft.com/office/officeart/2016/7/layout/LinearBlockProcessNumbered"/>
    <dgm:cxn modelId="{F6F6B1D9-A40F-AC47-A2AE-72F1128F4AB6}" type="presOf" srcId="{92454E0C-CC63-4784-83EE-2FC5E0B62D5F}" destId="{4B694667-139F-AE40-944E-E0EB929E9928}" srcOrd="0" destOrd="0" presId="urn:microsoft.com/office/officeart/2016/7/layout/LinearBlockProcessNumbered"/>
    <dgm:cxn modelId="{907A18EE-D53C-4DF8-9D41-062D763B0AAF}" srcId="{1330C425-A425-46F5-8C88-95807C17ECB1}" destId="{B44BBF5C-27DC-4353-A028-DB2B7A233EB3}" srcOrd="0" destOrd="0" parTransId="{293351C4-5BEE-480C-80B2-2DBA6835767B}" sibTransId="{3FD717BB-F289-4410-8EDB-EAA7DFF8F36F}"/>
    <dgm:cxn modelId="{DA827AFC-D51E-3F46-A5E0-D2C89F37FC79}" type="presOf" srcId="{169F4546-2157-4980-A906-CFC1973E7868}" destId="{6349DDEE-A487-3546-8004-26D7F9D35969}" srcOrd="0" destOrd="0" presId="urn:microsoft.com/office/officeart/2016/7/layout/LinearBlockProcessNumbered"/>
    <dgm:cxn modelId="{30A67B32-C4B9-3B44-8BC3-A2DDA5660010}" type="presParOf" srcId="{2307BCF6-1468-AC4E-A930-20219DB574F5}" destId="{50695C12-7C59-D847-88FD-292097E87C02}" srcOrd="0" destOrd="0" presId="urn:microsoft.com/office/officeart/2016/7/layout/LinearBlockProcessNumbered"/>
    <dgm:cxn modelId="{F0064E79-7BE9-3F48-A0EA-97CD364D5DBD}" type="presParOf" srcId="{50695C12-7C59-D847-88FD-292097E87C02}" destId="{5D5432F8-E835-8644-ACF7-D58A3B20D21C}" srcOrd="0" destOrd="0" presId="urn:microsoft.com/office/officeart/2016/7/layout/LinearBlockProcessNumbered"/>
    <dgm:cxn modelId="{794A08BA-F959-C347-B581-1AE99A505371}" type="presParOf" srcId="{50695C12-7C59-D847-88FD-292097E87C02}" destId="{59F6EC43-FDD1-9E4C-A0CA-12603C11979A}" srcOrd="1" destOrd="0" presId="urn:microsoft.com/office/officeart/2016/7/layout/LinearBlockProcessNumbered"/>
    <dgm:cxn modelId="{C7FCC03D-4789-8F4C-938C-03E0D0D96E6B}" type="presParOf" srcId="{50695C12-7C59-D847-88FD-292097E87C02}" destId="{527B1E67-38D3-5A4A-8DBC-9C7C23D5CDFE}" srcOrd="2" destOrd="0" presId="urn:microsoft.com/office/officeart/2016/7/layout/LinearBlockProcessNumbered"/>
    <dgm:cxn modelId="{04D1CABD-EF58-ED42-952E-EFF51C1422DD}" type="presParOf" srcId="{2307BCF6-1468-AC4E-A930-20219DB574F5}" destId="{B19D7B14-BC44-274B-8533-AD728708ECCC}" srcOrd="1" destOrd="0" presId="urn:microsoft.com/office/officeart/2016/7/layout/LinearBlockProcessNumbered"/>
    <dgm:cxn modelId="{3418CF51-C4A5-3348-BAF1-049CACBAD07C}" type="presParOf" srcId="{2307BCF6-1468-AC4E-A930-20219DB574F5}" destId="{1E01B41A-094E-9846-8736-C131343D8F16}" srcOrd="2" destOrd="0" presId="urn:microsoft.com/office/officeart/2016/7/layout/LinearBlockProcessNumbered"/>
    <dgm:cxn modelId="{A546E36E-6E88-534A-B25A-B39FF6CF48DB}" type="presParOf" srcId="{1E01B41A-094E-9846-8736-C131343D8F16}" destId="{6349DDEE-A487-3546-8004-26D7F9D35969}" srcOrd="0" destOrd="0" presId="urn:microsoft.com/office/officeart/2016/7/layout/LinearBlockProcessNumbered"/>
    <dgm:cxn modelId="{21418311-B0C4-5045-B59B-6BCBD697DC25}" type="presParOf" srcId="{1E01B41A-094E-9846-8736-C131343D8F16}" destId="{200221D1-B9FA-0549-BECA-1A3E1A3ED429}" srcOrd="1" destOrd="0" presId="urn:microsoft.com/office/officeart/2016/7/layout/LinearBlockProcessNumbered"/>
    <dgm:cxn modelId="{C7A9C486-B9BB-7843-9987-4AF558D0EE53}" type="presParOf" srcId="{1E01B41A-094E-9846-8736-C131343D8F16}" destId="{AA7598D3-7716-A642-8C85-86307412929E}" srcOrd="2" destOrd="0" presId="urn:microsoft.com/office/officeart/2016/7/layout/LinearBlockProcessNumbered"/>
    <dgm:cxn modelId="{E20C9201-E25A-554B-9F10-D3A99ED7094D}" type="presParOf" srcId="{2307BCF6-1468-AC4E-A930-20219DB574F5}" destId="{510EC4F9-F325-CA4B-B709-F7C409DC61E1}" srcOrd="3" destOrd="0" presId="urn:microsoft.com/office/officeart/2016/7/layout/LinearBlockProcessNumbered"/>
    <dgm:cxn modelId="{A7301FDF-169F-B444-8B5C-4B9B1274E9C9}" type="presParOf" srcId="{2307BCF6-1468-AC4E-A930-20219DB574F5}" destId="{19741FC6-4B97-3A46-B855-BF51DD3D20DD}" srcOrd="4" destOrd="0" presId="urn:microsoft.com/office/officeart/2016/7/layout/LinearBlockProcessNumbered"/>
    <dgm:cxn modelId="{C29C0D54-5FF0-4B46-85BA-8EAAF17C1F17}" type="presParOf" srcId="{19741FC6-4B97-3A46-B855-BF51DD3D20DD}" destId="{4B694667-139F-AE40-944E-E0EB929E9928}" srcOrd="0" destOrd="0" presId="urn:microsoft.com/office/officeart/2016/7/layout/LinearBlockProcessNumbered"/>
    <dgm:cxn modelId="{74D0AFC3-C994-6047-A12C-F3364488B6BF}" type="presParOf" srcId="{19741FC6-4B97-3A46-B855-BF51DD3D20DD}" destId="{D83A9B23-62DA-5F4A-BD61-ADD88C251F86}" srcOrd="1" destOrd="0" presId="urn:microsoft.com/office/officeart/2016/7/layout/LinearBlockProcessNumbered"/>
    <dgm:cxn modelId="{86491CDD-B454-5B4F-B505-D5E852160F33}" type="presParOf" srcId="{19741FC6-4B97-3A46-B855-BF51DD3D20DD}" destId="{9949D20E-04C9-7345-8EA9-A3793E09AE6B}" srcOrd="2" destOrd="0" presId="urn:microsoft.com/office/officeart/2016/7/layout/LinearBlockProcessNumbered"/>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8DE3AA1-9682-4505-A992-B1273CF6CF6D}"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0AA8F42-B105-460A-9E5C-DAE6E6706AA2}">
      <dgm:prSet/>
      <dgm:spPr/>
      <dgm:t>
        <a:bodyPr/>
        <a:lstStyle/>
        <a:p>
          <a:pPr>
            <a:defRPr b="1"/>
          </a:pPr>
          <a:r>
            <a:rPr lang="en-US" b="1" i="0" baseline="0"/>
            <a:t>Adaptive Forensic Verification Protocol (AFVP)</a:t>
          </a:r>
          <a:r>
            <a:rPr lang="en-US" b="0" i="0" baseline="0"/>
            <a:t>:</a:t>
          </a:r>
          <a:endParaRPr lang="en-US"/>
        </a:p>
      </dgm:t>
    </dgm:pt>
    <dgm:pt modelId="{1AEBF385-631B-42F6-8AD0-7A5F34F8BDCD}" type="parTrans" cxnId="{374FD0B4-A4A8-4813-91AF-9A45E40AE405}">
      <dgm:prSet/>
      <dgm:spPr/>
      <dgm:t>
        <a:bodyPr/>
        <a:lstStyle/>
        <a:p>
          <a:endParaRPr lang="en-US"/>
        </a:p>
      </dgm:t>
    </dgm:pt>
    <dgm:pt modelId="{6279939D-7A42-4701-AAFB-4596759ACDAF}" type="sibTrans" cxnId="{374FD0B4-A4A8-4813-91AF-9A45E40AE405}">
      <dgm:prSet/>
      <dgm:spPr/>
      <dgm:t>
        <a:bodyPr/>
        <a:lstStyle/>
        <a:p>
          <a:endParaRPr lang="en-US"/>
        </a:p>
      </dgm:t>
    </dgm:pt>
    <dgm:pt modelId="{E01A9705-29CC-4F1E-95B4-8709D8816728}">
      <dgm:prSet/>
      <dgm:spPr/>
      <dgm:t>
        <a:bodyPr/>
        <a:lstStyle/>
        <a:p>
          <a:r>
            <a:rPr lang="en-US" b="1" i="0" baseline="0"/>
            <a:t>Locate:</a:t>
          </a:r>
          <a:r>
            <a:rPr lang="en-US" b="0" i="0" baseline="0"/>
            <a:t> Use Autopsy to find files.</a:t>
          </a:r>
          <a:endParaRPr lang="en-US"/>
        </a:p>
      </dgm:t>
    </dgm:pt>
    <dgm:pt modelId="{CFAADC77-43E8-41B6-A4CD-03DB5E57B432}" type="parTrans" cxnId="{55B09AB5-B307-4F75-8128-58E0E4AF4C8F}">
      <dgm:prSet/>
      <dgm:spPr/>
      <dgm:t>
        <a:bodyPr/>
        <a:lstStyle/>
        <a:p>
          <a:endParaRPr lang="en-US"/>
        </a:p>
      </dgm:t>
    </dgm:pt>
    <dgm:pt modelId="{177E4361-D8A0-460C-9BC0-F72DF797963F}" type="sibTrans" cxnId="{55B09AB5-B307-4F75-8128-58E0E4AF4C8F}">
      <dgm:prSet/>
      <dgm:spPr/>
      <dgm:t>
        <a:bodyPr/>
        <a:lstStyle/>
        <a:p>
          <a:endParaRPr lang="en-US"/>
        </a:p>
      </dgm:t>
    </dgm:pt>
    <dgm:pt modelId="{64814D70-0A35-485B-B3CB-DAA925796DE2}">
      <dgm:prSet/>
      <dgm:spPr/>
      <dgm:t>
        <a:bodyPr/>
        <a:lstStyle/>
        <a:p>
          <a:r>
            <a:rPr lang="en-US" b="1" i="0" baseline="0"/>
            <a:t>Hex Check:</a:t>
          </a:r>
          <a:r>
            <a:rPr lang="en-US" b="0" i="0" baseline="0"/>
            <a:t> Manually verify file signatures and don't trust the filename.</a:t>
          </a:r>
          <a:endParaRPr lang="en-US"/>
        </a:p>
      </dgm:t>
    </dgm:pt>
    <dgm:pt modelId="{59DFFE12-67BC-4C6E-A7D1-0D6BB0FD1126}" type="parTrans" cxnId="{B1B8D988-15EA-48DC-85BA-1E8609A28C4C}">
      <dgm:prSet/>
      <dgm:spPr/>
      <dgm:t>
        <a:bodyPr/>
        <a:lstStyle/>
        <a:p>
          <a:endParaRPr lang="en-US"/>
        </a:p>
      </dgm:t>
    </dgm:pt>
    <dgm:pt modelId="{46A5DBE3-5EF4-4CCE-9757-443AA5A6E5AF}" type="sibTrans" cxnId="{B1B8D988-15EA-48DC-85BA-1E8609A28C4C}">
      <dgm:prSet/>
      <dgm:spPr/>
      <dgm:t>
        <a:bodyPr/>
        <a:lstStyle/>
        <a:p>
          <a:endParaRPr lang="en-US"/>
        </a:p>
      </dgm:t>
    </dgm:pt>
    <dgm:pt modelId="{49564D85-7490-4364-B86B-19C83D35607F}">
      <dgm:prSet/>
      <dgm:spPr/>
      <dgm:t>
        <a:bodyPr/>
        <a:lstStyle/>
        <a:p>
          <a:r>
            <a:rPr lang="en-US" b="1" i="0" baseline="0"/>
            <a:t>Double Check:</a:t>
          </a:r>
          <a:r>
            <a:rPr lang="en-US" b="0" i="0" baseline="0"/>
            <a:t> Use command-line tools (Sleuth Kit) for independent verification.</a:t>
          </a:r>
          <a:endParaRPr lang="en-US"/>
        </a:p>
      </dgm:t>
    </dgm:pt>
    <dgm:pt modelId="{9E2383A7-384F-4888-B7D8-28212FA90EFA}" type="parTrans" cxnId="{C8657972-B2BB-442B-B5ED-ED991E15D3DF}">
      <dgm:prSet/>
      <dgm:spPr/>
      <dgm:t>
        <a:bodyPr/>
        <a:lstStyle/>
        <a:p>
          <a:endParaRPr lang="en-US"/>
        </a:p>
      </dgm:t>
    </dgm:pt>
    <dgm:pt modelId="{FE83BAF3-896F-4284-B873-CF4E74B2B1AD}" type="sibTrans" cxnId="{C8657972-B2BB-442B-B5ED-ED991E15D3DF}">
      <dgm:prSet/>
      <dgm:spPr/>
      <dgm:t>
        <a:bodyPr/>
        <a:lstStyle/>
        <a:p>
          <a:endParaRPr lang="en-US"/>
        </a:p>
      </dgm:t>
    </dgm:pt>
    <dgm:pt modelId="{B11CCBE0-E477-42D5-818A-736C37B6411C}">
      <dgm:prSet/>
      <dgm:spPr/>
      <dgm:t>
        <a:bodyPr/>
        <a:lstStyle/>
        <a:p>
          <a:pPr>
            <a:defRPr b="1"/>
          </a:pPr>
          <a:r>
            <a:rPr lang="en-US" b="1" i="0" baseline="0"/>
            <a:t>Recommendation for Small Labs:</a:t>
          </a:r>
          <a:r>
            <a:rPr lang="en-US" b="0" i="0" baseline="0"/>
            <a:t> </a:t>
          </a:r>
          <a:endParaRPr lang="en-US"/>
        </a:p>
      </dgm:t>
    </dgm:pt>
    <dgm:pt modelId="{E1647619-0906-434C-86F9-1FC9785852FE}" type="parTrans" cxnId="{2CDAA6FC-25CE-47C1-AE6D-07D0BA2F4922}">
      <dgm:prSet/>
      <dgm:spPr/>
      <dgm:t>
        <a:bodyPr/>
        <a:lstStyle/>
        <a:p>
          <a:endParaRPr lang="en-US"/>
        </a:p>
      </dgm:t>
    </dgm:pt>
    <dgm:pt modelId="{749CC226-C977-43BF-BD7A-01E9A07C9E30}" type="sibTrans" cxnId="{2CDAA6FC-25CE-47C1-AE6D-07D0BA2F4922}">
      <dgm:prSet/>
      <dgm:spPr/>
      <dgm:t>
        <a:bodyPr/>
        <a:lstStyle/>
        <a:p>
          <a:endParaRPr lang="en-US"/>
        </a:p>
      </dgm:t>
    </dgm:pt>
    <dgm:pt modelId="{8CFBACFC-44C9-4F74-9EC2-57D7EF3C30EB}">
      <dgm:prSet/>
      <dgm:spPr/>
      <dgm:t>
        <a:bodyPr/>
        <a:lstStyle/>
        <a:p>
          <a:r>
            <a:rPr lang="en-US" b="0" i="0" baseline="0"/>
            <a:t>Maintain a "Golden Image" USB drive for quarterly reliability checks.</a:t>
          </a:r>
          <a:endParaRPr lang="en-US"/>
        </a:p>
      </dgm:t>
    </dgm:pt>
    <dgm:pt modelId="{5A963B87-95DA-4CB6-86B3-45165024BD83}" type="parTrans" cxnId="{BC0D1B9D-11CF-4FBF-BDFB-D78FC8FEC3DF}">
      <dgm:prSet/>
      <dgm:spPr/>
      <dgm:t>
        <a:bodyPr/>
        <a:lstStyle/>
        <a:p>
          <a:endParaRPr lang="en-US"/>
        </a:p>
      </dgm:t>
    </dgm:pt>
    <dgm:pt modelId="{7EA16028-C826-49CF-B20C-FEDAB946B049}" type="sibTrans" cxnId="{BC0D1B9D-11CF-4FBF-BDFB-D78FC8FEC3DF}">
      <dgm:prSet/>
      <dgm:spPr/>
      <dgm:t>
        <a:bodyPr/>
        <a:lstStyle/>
        <a:p>
          <a:endParaRPr lang="en-US"/>
        </a:p>
      </dgm:t>
    </dgm:pt>
    <dgm:pt modelId="{E029F0BE-59A5-424A-A5D4-7AAEB5F0A1CD}" type="pres">
      <dgm:prSet presAssocID="{08DE3AA1-9682-4505-A992-B1273CF6CF6D}" presName="root" presStyleCnt="0">
        <dgm:presLayoutVars>
          <dgm:dir/>
          <dgm:resizeHandles val="exact"/>
        </dgm:presLayoutVars>
      </dgm:prSet>
      <dgm:spPr/>
    </dgm:pt>
    <dgm:pt modelId="{ECD2174F-5472-4D2B-988F-B42365F695F2}" type="pres">
      <dgm:prSet presAssocID="{A0AA8F42-B105-460A-9E5C-DAE6E6706AA2}" presName="compNode" presStyleCnt="0"/>
      <dgm:spPr/>
    </dgm:pt>
    <dgm:pt modelId="{FBA00D13-B76A-4C60-9175-4E2393B1D0EA}" type="pres">
      <dgm:prSet presAssocID="{A0AA8F42-B105-460A-9E5C-DAE6E6706AA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tective"/>
        </a:ext>
      </dgm:extLst>
    </dgm:pt>
    <dgm:pt modelId="{8877F313-530B-419B-9FCB-BDBA3DD79430}" type="pres">
      <dgm:prSet presAssocID="{A0AA8F42-B105-460A-9E5C-DAE6E6706AA2}" presName="iconSpace" presStyleCnt="0"/>
      <dgm:spPr/>
    </dgm:pt>
    <dgm:pt modelId="{8CED777B-98C3-45AD-A12A-2C0CABE2E791}" type="pres">
      <dgm:prSet presAssocID="{A0AA8F42-B105-460A-9E5C-DAE6E6706AA2}" presName="parTx" presStyleLbl="revTx" presStyleIdx="0" presStyleCnt="4">
        <dgm:presLayoutVars>
          <dgm:chMax val="0"/>
          <dgm:chPref val="0"/>
        </dgm:presLayoutVars>
      </dgm:prSet>
      <dgm:spPr/>
    </dgm:pt>
    <dgm:pt modelId="{FE8C56CB-C512-4FC7-9A2B-F62BE1360BA5}" type="pres">
      <dgm:prSet presAssocID="{A0AA8F42-B105-460A-9E5C-DAE6E6706AA2}" presName="txSpace" presStyleCnt="0"/>
      <dgm:spPr/>
    </dgm:pt>
    <dgm:pt modelId="{F3C7EFC4-0DB2-4B34-856F-B1C29138465D}" type="pres">
      <dgm:prSet presAssocID="{A0AA8F42-B105-460A-9E5C-DAE6E6706AA2}" presName="desTx" presStyleLbl="revTx" presStyleIdx="1" presStyleCnt="4">
        <dgm:presLayoutVars/>
      </dgm:prSet>
      <dgm:spPr/>
    </dgm:pt>
    <dgm:pt modelId="{96D2A2C2-DFCA-411B-9D1A-76416A172425}" type="pres">
      <dgm:prSet presAssocID="{6279939D-7A42-4701-AAFB-4596759ACDAF}" presName="sibTrans" presStyleCnt="0"/>
      <dgm:spPr/>
    </dgm:pt>
    <dgm:pt modelId="{E13E2EAA-B087-41FE-80C7-C71F3576E735}" type="pres">
      <dgm:prSet presAssocID="{B11CCBE0-E477-42D5-818A-736C37B6411C}" presName="compNode" presStyleCnt="0"/>
      <dgm:spPr/>
    </dgm:pt>
    <dgm:pt modelId="{2779C871-65EC-47BE-8D3D-E184E0FA155C}" type="pres">
      <dgm:prSet presAssocID="{B11CCBE0-E477-42D5-818A-736C37B6411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B"/>
        </a:ext>
      </dgm:extLst>
    </dgm:pt>
    <dgm:pt modelId="{F2FF1FCF-E46E-41B5-B11A-511BE77EC99D}" type="pres">
      <dgm:prSet presAssocID="{B11CCBE0-E477-42D5-818A-736C37B6411C}" presName="iconSpace" presStyleCnt="0"/>
      <dgm:spPr/>
    </dgm:pt>
    <dgm:pt modelId="{838087E2-FCBB-4636-90DC-57679FF6769E}" type="pres">
      <dgm:prSet presAssocID="{B11CCBE0-E477-42D5-818A-736C37B6411C}" presName="parTx" presStyleLbl="revTx" presStyleIdx="2" presStyleCnt="4">
        <dgm:presLayoutVars>
          <dgm:chMax val="0"/>
          <dgm:chPref val="0"/>
        </dgm:presLayoutVars>
      </dgm:prSet>
      <dgm:spPr/>
    </dgm:pt>
    <dgm:pt modelId="{45623C75-B062-4C3D-B33C-16165916A89E}" type="pres">
      <dgm:prSet presAssocID="{B11CCBE0-E477-42D5-818A-736C37B6411C}" presName="txSpace" presStyleCnt="0"/>
      <dgm:spPr/>
    </dgm:pt>
    <dgm:pt modelId="{FDBD8EC1-12A0-41E8-B6DD-9DB4A2C4920E}" type="pres">
      <dgm:prSet presAssocID="{B11CCBE0-E477-42D5-818A-736C37B6411C}" presName="desTx" presStyleLbl="revTx" presStyleIdx="3" presStyleCnt="4">
        <dgm:presLayoutVars/>
      </dgm:prSet>
      <dgm:spPr/>
    </dgm:pt>
  </dgm:ptLst>
  <dgm:cxnLst>
    <dgm:cxn modelId="{A4AE6028-A699-4743-9A9B-A60C4B161872}" type="presOf" srcId="{49564D85-7490-4364-B86B-19C83D35607F}" destId="{F3C7EFC4-0DB2-4B34-856F-B1C29138465D}" srcOrd="0" destOrd="2" presId="urn:microsoft.com/office/officeart/2018/5/layout/CenteredIconLabelDescriptionList"/>
    <dgm:cxn modelId="{0D13B13F-DEA7-48DF-8188-F03CBE4DC26F}" type="presOf" srcId="{8CFBACFC-44C9-4F74-9EC2-57D7EF3C30EB}" destId="{FDBD8EC1-12A0-41E8-B6DD-9DB4A2C4920E}" srcOrd="0" destOrd="0" presId="urn:microsoft.com/office/officeart/2018/5/layout/CenteredIconLabelDescriptionList"/>
    <dgm:cxn modelId="{4732F549-B9B9-46A4-B588-708D9E847B66}" type="presOf" srcId="{B11CCBE0-E477-42D5-818A-736C37B6411C}" destId="{838087E2-FCBB-4636-90DC-57679FF6769E}" srcOrd="0" destOrd="0" presId="urn:microsoft.com/office/officeart/2018/5/layout/CenteredIconLabelDescriptionList"/>
    <dgm:cxn modelId="{C8657972-B2BB-442B-B5ED-ED991E15D3DF}" srcId="{A0AA8F42-B105-460A-9E5C-DAE6E6706AA2}" destId="{49564D85-7490-4364-B86B-19C83D35607F}" srcOrd="2" destOrd="0" parTransId="{9E2383A7-384F-4888-B7D8-28212FA90EFA}" sibTransId="{FE83BAF3-896F-4284-B873-CF4E74B2B1AD}"/>
    <dgm:cxn modelId="{3D0AF07E-7821-44AF-A76E-7C80A1E9E94C}" type="presOf" srcId="{E01A9705-29CC-4F1E-95B4-8709D8816728}" destId="{F3C7EFC4-0DB2-4B34-856F-B1C29138465D}" srcOrd="0" destOrd="0" presId="urn:microsoft.com/office/officeart/2018/5/layout/CenteredIconLabelDescriptionList"/>
    <dgm:cxn modelId="{B1B8D988-15EA-48DC-85BA-1E8609A28C4C}" srcId="{A0AA8F42-B105-460A-9E5C-DAE6E6706AA2}" destId="{64814D70-0A35-485B-B3CB-DAA925796DE2}" srcOrd="1" destOrd="0" parTransId="{59DFFE12-67BC-4C6E-A7D1-0D6BB0FD1126}" sibTransId="{46A5DBE3-5EF4-4CCE-9757-443AA5A6E5AF}"/>
    <dgm:cxn modelId="{276BD28F-42E2-45D6-B59D-F8D944705BF4}" type="presOf" srcId="{08DE3AA1-9682-4505-A992-B1273CF6CF6D}" destId="{E029F0BE-59A5-424A-A5D4-7AAEB5F0A1CD}" srcOrd="0" destOrd="0" presId="urn:microsoft.com/office/officeart/2018/5/layout/CenteredIconLabelDescriptionList"/>
    <dgm:cxn modelId="{BC0D1B9D-11CF-4FBF-BDFB-D78FC8FEC3DF}" srcId="{B11CCBE0-E477-42D5-818A-736C37B6411C}" destId="{8CFBACFC-44C9-4F74-9EC2-57D7EF3C30EB}" srcOrd="0" destOrd="0" parTransId="{5A963B87-95DA-4CB6-86B3-45165024BD83}" sibTransId="{7EA16028-C826-49CF-B20C-FEDAB946B049}"/>
    <dgm:cxn modelId="{374FD0B4-A4A8-4813-91AF-9A45E40AE405}" srcId="{08DE3AA1-9682-4505-A992-B1273CF6CF6D}" destId="{A0AA8F42-B105-460A-9E5C-DAE6E6706AA2}" srcOrd="0" destOrd="0" parTransId="{1AEBF385-631B-42F6-8AD0-7A5F34F8BDCD}" sibTransId="{6279939D-7A42-4701-AAFB-4596759ACDAF}"/>
    <dgm:cxn modelId="{55B09AB5-B307-4F75-8128-58E0E4AF4C8F}" srcId="{A0AA8F42-B105-460A-9E5C-DAE6E6706AA2}" destId="{E01A9705-29CC-4F1E-95B4-8709D8816728}" srcOrd="0" destOrd="0" parTransId="{CFAADC77-43E8-41B6-A4CD-03DB5E57B432}" sibTransId="{177E4361-D8A0-460C-9BC0-F72DF797963F}"/>
    <dgm:cxn modelId="{1851BBCE-E9C7-4883-889A-9A7FFF09A7FE}" type="presOf" srcId="{64814D70-0A35-485B-B3CB-DAA925796DE2}" destId="{F3C7EFC4-0DB2-4B34-856F-B1C29138465D}" srcOrd="0" destOrd="1" presId="urn:microsoft.com/office/officeart/2018/5/layout/CenteredIconLabelDescriptionList"/>
    <dgm:cxn modelId="{063CB1EA-D20C-4887-B1C6-AA9FCA0251FF}" type="presOf" srcId="{A0AA8F42-B105-460A-9E5C-DAE6E6706AA2}" destId="{8CED777B-98C3-45AD-A12A-2C0CABE2E791}" srcOrd="0" destOrd="0" presId="urn:microsoft.com/office/officeart/2018/5/layout/CenteredIconLabelDescriptionList"/>
    <dgm:cxn modelId="{2CDAA6FC-25CE-47C1-AE6D-07D0BA2F4922}" srcId="{08DE3AA1-9682-4505-A992-B1273CF6CF6D}" destId="{B11CCBE0-E477-42D5-818A-736C37B6411C}" srcOrd="1" destOrd="0" parTransId="{E1647619-0906-434C-86F9-1FC9785852FE}" sibTransId="{749CC226-C977-43BF-BD7A-01E9A07C9E30}"/>
    <dgm:cxn modelId="{B66C80E8-1B85-4AA7-AF52-02C8FFC8CD96}" type="presParOf" srcId="{E029F0BE-59A5-424A-A5D4-7AAEB5F0A1CD}" destId="{ECD2174F-5472-4D2B-988F-B42365F695F2}" srcOrd="0" destOrd="0" presId="urn:microsoft.com/office/officeart/2018/5/layout/CenteredIconLabelDescriptionList"/>
    <dgm:cxn modelId="{4E4A9A11-1BE3-4AD8-9622-F4867927D0F1}" type="presParOf" srcId="{ECD2174F-5472-4D2B-988F-B42365F695F2}" destId="{FBA00D13-B76A-4C60-9175-4E2393B1D0EA}" srcOrd="0" destOrd="0" presId="urn:microsoft.com/office/officeart/2018/5/layout/CenteredIconLabelDescriptionList"/>
    <dgm:cxn modelId="{00B6973C-3AB9-4E28-9532-BFA9C9B1CE56}" type="presParOf" srcId="{ECD2174F-5472-4D2B-988F-B42365F695F2}" destId="{8877F313-530B-419B-9FCB-BDBA3DD79430}" srcOrd="1" destOrd="0" presId="urn:microsoft.com/office/officeart/2018/5/layout/CenteredIconLabelDescriptionList"/>
    <dgm:cxn modelId="{DC7CA83F-5D6B-4807-9069-BB142718E232}" type="presParOf" srcId="{ECD2174F-5472-4D2B-988F-B42365F695F2}" destId="{8CED777B-98C3-45AD-A12A-2C0CABE2E791}" srcOrd="2" destOrd="0" presId="urn:microsoft.com/office/officeart/2018/5/layout/CenteredIconLabelDescriptionList"/>
    <dgm:cxn modelId="{C76CC510-8FDB-46F5-9C6B-6E2FAB9F5F58}" type="presParOf" srcId="{ECD2174F-5472-4D2B-988F-B42365F695F2}" destId="{FE8C56CB-C512-4FC7-9A2B-F62BE1360BA5}" srcOrd="3" destOrd="0" presId="urn:microsoft.com/office/officeart/2018/5/layout/CenteredIconLabelDescriptionList"/>
    <dgm:cxn modelId="{443395F7-B08C-4A13-BF6C-5B93193A0473}" type="presParOf" srcId="{ECD2174F-5472-4D2B-988F-B42365F695F2}" destId="{F3C7EFC4-0DB2-4B34-856F-B1C29138465D}" srcOrd="4" destOrd="0" presId="urn:microsoft.com/office/officeart/2018/5/layout/CenteredIconLabelDescriptionList"/>
    <dgm:cxn modelId="{20C03301-EE30-443E-9373-B984FB8DF690}" type="presParOf" srcId="{E029F0BE-59A5-424A-A5D4-7AAEB5F0A1CD}" destId="{96D2A2C2-DFCA-411B-9D1A-76416A172425}" srcOrd="1" destOrd="0" presId="urn:microsoft.com/office/officeart/2018/5/layout/CenteredIconLabelDescriptionList"/>
    <dgm:cxn modelId="{9F3A2DFF-F0FE-4E0B-A7FD-EAEA465AEE1C}" type="presParOf" srcId="{E029F0BE-59A5-424A-A5D4-7AAEB5F0A1CD}" destId="{E13E2EAA-B087-41FE-80C7-C71F3576E735}" srcOrd="2" destOrd="0" presId="urn:microsoft.com/office/officeart/2018/5/layout/CenteredIconLabelDescriptionList"/>
    <dgm:cxn modelId="{4B612CB5-FEC2-4328-9987-9B3A8F79CB32}" type="presParOf" srcId="{E13E2EAA-B087-41FE-80C7-C71F3576E735}" destId="{2779C871-65EC-47BE-8D3D-E184E0FA155C}" srcOrd="0" destOrd="0" presId="urn:microsoft.com/office/officeart/2018/5/layout/CenteredIconLabelDescriptionList"/>
    <dgm:cxn modelId="{363E4C68-580A-4AC9-8D0B-4F1C3D1A1059}" type="presParOf" srcId="{E13E2EAA-B087-41FE-80C7-C71F3576E735}" destId="{F2FF1FCF-E46E-41B5-B11A-511BE77EC99D}" srcOrd="1" destOrd="0" presId="urn:microsoft.com/office/officeart/2018/5/layout/CenteredIconLabelDescriptionList"/>
    <dgm:cxn modelId="{F4ABE6D9-EF6C-42CD-99B0-BC5000258026}" type="presParOf" srcId="{E13E2EAA-B087-41FE-80C7-C71F3576E735}" destId="{838087E2-FCBB-4636-90DC-57679FF6769E}" srcOrd="2" destOrd="0" presId="urn:microsoft.com/office/officeart/2018/5/layout/CenteredIconLabelDescriptionList"/>
    <dgm:cxn modelId="{E82BB567-891F-4BB1-B654-6E341CBBC471}" type="presParOf" srcId="{E13E2EAA-B087-41FE-80C7-C71F3576E735}" destId="{45623C75-B062-4C3D-B33C-16165916A89E}" srcOrd="3" destOrd="0" presId="urn:microsoft.com/office/officeart/2018/5/layout/CenteredIconLabelDescriptionList"/>
    <dgm:cxn modelId="{29A04103-31CD-4877-96A1-AEFE9F438A01}" type="presParOf" srcId="{E13E2EAA-B087-41FE-80C7-C71F3576E735}" destId="{FDBD8EC1-12A0-41E8-B6DD-9DB4A2C4920E}" srcOrd="4" destOrd="0" presId="urn:microsoft.com/office/officeart/2018/5/layout/CenteredIconLabelDescrip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A982BB-5369-A14D-B5EA-C6E7E9A2E662}">
      <dsp:nvSpPr>
        <dsp:cNvPr id="0" name=""/>
        <dsp:cNvSpPr/>
      </dsp:nvSpPr>
      <dsp:spPr>
        <a:xfrm>
          <a:off x="53" y="212398"/>
          <a:ext cx="5089169" cy="6624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a:t>The Challenge:</a:t>
          </a:r>
          <a:endParaRPr lang="en-US" sz="2300" kern="1200"/>
        </a:p>
      </dsp:txBody>
      <dsp:txXfrm>
        <a:off x="53" y="212398"/>
        <a:ext cx="5089169" cy="662400"/>
      </dsp:txXfrm>
    </dsp:sp>
    <dsp:sp modelId="{9652033E-C7DE-1B49-B232-6FCAC9424ADA}">
      <dsp:nvSpPr>
        <dsp:cNvPr id="0" name=""/>
        <dsp:cNvSpPr/>
      </dsp:nvSpPr>
      <dsp:spPr>
        <a:xfrm>
          <a:off x="53" y="874799"/>
          <a:ext cx="5089169" cy="265167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a:t>Courts require scientific reliability (Daubert Standard).</a:t>
          </a:r>
        </a:p>
        <a:p>
          <a:pPr marL="228600" lvl="1" indent="-228600" algn="l" defTabSz="1022350">
            <a:lnSpc>
              <a:spcPct val="90000"/>
            </a:lnSpc>
            <a:spcBef>
              <a:spcPct val="0"/>
            </a:spcBef>
            <a:spcAft>
              <a:spcPct val="15000"/>
            </a:spcAft>
            <a:buChar char="•"/>
          </a:pPr>
          <a:r>
            <a:rPr lang="en-US" sz="2300" kern="1200"/>
            <a:t>Commercial tools are "Black Boxes" (cannot see their code).</a:t>
          </a:r>
        </a:p>
        <a:p>
          <a:pPr marL="228600" lvl="1" indent="-228600" algn="l" defTabSz="1022350">
            <a:lnSpc>
              <a:spcPct val="90000"/>
            </a:lnSpc>
            <a:spcBef>
              <a:spcPct val="0"/>
            </a:spcBef>
            <a:spcAft>
              <a:spcPct val="15000"/>
            </a:spcAft>
            <a:buChar char="•"/>
          </a:pPr>
          <a:r>
            <a:rPr lang="en-US" sz="2300" kern="1200"/>
            <a:t>Open-source tools need validation, but NIST tests are often too complex/outdated for small labs.</a:t>
          </a:r>
        </a:p>
      </dsp:txBody>
      <dsp:txXfrm>
        <a:off x="53" y="874799"/>
        <a:ext cx="5089169" cy="2651670"/>
      </dsp:txXfrm>
    </dsp:sp>
    <dsp:sp modelId="{10CE248D-3A48-6146-BBF4-7AFB540C61AE}">
      <dsp:nvSpPr>
        <dsp:cNvPr id="0" name=""/>
        <dsp:cNvSpPr/>
      </dsp:nvSpPr>
      <dsp:spPr>
        <a:xfrm>
          <a:off x="5801706" y="212398"/>
          <a:ext cx="5089169" cy="662400"/>
        </a:xfrm>
        <a:prstGeom prst="rect">
          <a:avLst/>
        </a:prstGeom>
        <a:solidFill>
          <a:schemeClr val="accent2">
            <a:hueOff val="7072097"/>
            <a:satOff val="-26638"/>
            <a:lumOff val="22353"/>
            <a:alphaOff val="0"/>
          </a:schemeClr>
        </a:solidFill>
        <a:ln w="12700" cap="flat" cmpd="sng" algn="ctr">
          <a:solidFill>
            <a:schemeClr val="accent2">
              <a:hueOff val="7072097"/>
              <a:satOff val="-26638"/>
              <a:lumOff val="2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a:t>The Goal:</a:t>
          </a:r>
          <a:endParaRPr lang="en-US" sz="2300" kern="1200"/>
        </a:p>
      </dsp:txBody>
      <dsp:txXfrm>
        <a:off x="5801706" y="212398"/>
        <a:ext cx="5089169" cy="662400"/>
      </dsp:txXfrm>
    </dsp:sp>
    <dsp:sp modelId="{48F44C10-F7E8-D64F-8E72-92E34A18BB23}">
      <dsp:nvSpPr>
        <dsp:cNvPr id="0" name=""/>
        <dsp:cNvSpPr/>
      </dsp:nvSpPr>
      <dsp:spPr>
        <a:xfrm>
          <a:off x="5801706" y="874799"/>
          <a:ext cx="5089169" cy="2651670"/>
        </a:xfrm>
        <a:prstGeom prst="rect">
          <a:avLst/>
        </a:prstGeom>
        <a:solidFill>
          <a:schemeClr val="accent2">
            <a:tint val="40000"/>
            <a:alpha val="90000"/>
            <a:hueOff val="7414874"/>
            <a:satOff val="-7406"/>
            <a:lumOff val="3414"/>
            <a:alphaOff val="0"/>
          </a:schemeClr>
        </a:solidFill>
        <a:ln w="12700" cap="flat" cmpd="sng" algn="ctr">
          <a:solidFill>
            <a:schemeClr val="accent2">
              <a:tint val="40000"/>
              <a:alpha val="90000"/>
              <a:hueOff val="7414874"/>
              <a:satOff val="-7406"/>
              <a:lumOff val="341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a:t>Create a simple and repeatable “Ground Truth” test.</a:t>
          </a:r>
        </a:p>
        <a:p>
          <a:pPr marL="228600" lvl="1" indent="-228600" algn="l" defTabSz="1022350">
            <a:lnSpc>
              <a:spcPct val="90000"/>
            </a:lnSpc>
            <a:spcBef>
              <a:spcPct val="0"/>
            </a:spcBef>
            <a:spcAft>
              <a:spcPct val="15000"/>
            </a:spcAft>
            <a:buChar char="•"/>
          </a:pPr>
          <a:r>
            <a:rPr lang="en-US" sz="2300" kern="1200"/>
            <a:t>Verify the File Location, Metadata Accuracy, and Repeatability.</a:t>
          </a:r>
        </a:p>
      </dsp:txBody>
      <dsp:txXfrm>
        <a:off x="5801706" y="874799"/>
        <a:ext cx="5089169" cy="26516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311DCE-B6AB-459C-8167-B7E907B5FB39}">
      <dsp:nvSpPr>
        <dsp:cNvPr id="0" name=""/>
        <dsp:cNvSpPr/>
      </dsp:nvSpPr>
      <dsp:spPr>
        <a:xfrm>
          <a:off x="786382" y="415723"/>
          <a:ext cx="841640" cy="8416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CC3EF4-BBA9-4508-8FB4-9CC90E5E3322}">
      <dsp:nvSpPr>
        <dsp:cNvPr id="0" name=""/>
        <dsp:cNvSpPr/>
      </dsp:nvSpPr>
      <dsp:spPr>
        <a:xfrm>
          <a:off x="4859" y="1382387"/>
          <a:ext cx="2404687" cy="1433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i="0" kern="1200" baseline="0" dirty="0"/>
            <a:t>Environment:</a:t>
          </a:r>
        </a:p>
        <a:p>
          <a:pPr marL="0" lvl="0" indent="0" algn="ctr" defTabSz="622300">
            <a:lnSpc>
              <a:spcPct val="100000"/>
            </a:lnSpc>
            <a:spcBef>
              <a:spcPct val="0"/>
            </a:spcBef>
            <a:spcAft>
              <a:spcPct val="35000"/>
            </a:spcAft>
            <a:buNone/>
            <a:defRPr b="1"/>
          </a:pPr>
          <a:r>
            <a:rPr lang="en-US" sz="1400" b="0" i="0" kern="1200" baseline="0" dirty="0"/>
            <a:t>Windows 10 VM, 2GB NTFS Virtual Drive.</a:t>
          </a:r>
          <a:endParaRPr lang="en-US" sz="1400" kern="1200" dirty="0"/>
        </a:p>
      </dsp:txBody>
      <dsp:txXfrm>
        <a:off x="4859" y="1382387"/>
        <a:ext cx="2404687" cy="1433795"/>
      </dsp:txXfrm>
    </dsp:sp>
    <dsp:sp modelId="{861EB47A-E883-49F6-A73C-EFA1750200E6}">
      <dsp:nvSpPr>
        <dsp:cNvPr id="0" name=""/>
        <dsp:cNvSpPr/>
      </dsp:nvSpPr>
      <dsp:spPr>
        <a:xfrm>
          <a:off x="4859" y="2874334"/>
          <a:ext cx="2404687" cy="448804"/>
        </a:xfrm>
        <a:prstGeom prst="rect">
          <a:avLst/>
        </a:prstGeom>
        <a:noFill/>
        <a:ln>
          <a:noFill/>
        </a:ln>
        <a:effectLst/>
      </dsp:spPr>
      <dsp:style>
        <a:lnRef idx="0">
          <a:scrgbClr r="0" g="0" b="0"/>
        </a:lnRef>
        <a:fillRef idx="0">
          <a:scrgbClr r="0" g="0" b="0"/>
        </a:fillRef>
        <a:effectRef idx="0">
          <a:scrgbClr r="0" g="0" b="0"/>
        </a:effectRef>
        <a:fontRef idx="minor"/>
      </dsp:style>
    </dsp:sp>
    <dsp:sp modelId="{FBC3049D-4DE0-48DE-9B42-023732666753}">
      <dsp:nvSpPr>
        <dsp:cNvPr id="0" name=""/>
        <dsp:cNvSpPr/>
      </dsp:nvSpPr>
      <dsp:spPr>
        <a:xfrm>
          <a:off x="3611890" y="415723"/>
          <a:ext cx="841640" cy="8416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FBAE96-60A5-45F3-811D-BFB3952BB239}">
      <dsp:nvSpPr>
        <dsp:cNvPr id="0" name=""/>
        <dsp:cNvSpPr/>
      </dsp:nvSpPr>
      <dsp:spPr>
        <a:xfrm>
          <a:off x="2830366" y="1382387"/>
          <a:ext cx="2404687" cy="1433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i="0" kern="1200" baseline="0" dirty="0"/>
            <a:t>Dataset (55 Files Total):</a:t>
          </a:r>
        </a:p>
        <a:p>
          <a:pPr marL="0" lvl="0" indent="0" algn="ctr" defTabSz="622300">
            <a:lnSpc>
              <a:spcPct val="100000"/>
            </a:lnSpc>
            <a:spcBef>
              <a:spcPct val="0"/>
            </a:spcBef>
            <a:spcAft>
              <a:spcPct val="35000"/>
            </a:spcAft>
            <a:buNone/>
            <a:defRPr b="1"/>
          </a:pPr>
          <a:r>
            <a:rPr lang="en-US" sz="1400" b="0" i="0" kern="1200" baseline="0" dirty="0"/>
            <a:t>25 Documents (</a:t>
          </a:r>
          <a:r>
            <a:rPr lang="en-US" sz="1400" b="0" i="0" kern="1200" baseline="0" dirty="0" err="1"/>
            <a:t>docx,.pdf,.txt</a:t>
          </a:r>
          <a:r>
            <a:rPr lang="en-US" sz="1400" b="0" i="0" kern="1200" baseline="0" dirty="0"/>
            <a:t>)</a:t>
          </a:r>
        </a:p>
        <a:p>
          <a:pPr marL="0" lvl="0" indent="0" algn="ctr" defTabSz="622300">
            <a:lnSpc>
              <a:spcPct val="100000"/>
            </a:lnSpc>
            <a:spcBef>
              <a:spcPct val="0"/>
            </a:spcBef>
            <a:spcAft>
              <a:spcPct val="35000"/>
            </a:spcAft>
            <a:buNone/>
            <a:defRPr b="1"/>
          </a:pPr>
          <a:r>
            <a:rPr lang="en-US" sz="1400" b="0" i="0" kern="1200" baseline="0" dirty="0"/>
            <a:t>30 Images (jpg,.</a:t>
          </a:r>
          <a:r>
            <a:rPr lang="en-US" sz="1400" b="0" i="0" kern="1200" baseline="0" dirty="0" err="1"/>
            <a:t>png</a:t>
          </a:r>
          <a:r>
            <a:rPr lang="en-US" sz="1400" b="0" i="0" kern="1200" baseline="0" dirty="0"/>
            <a:t>).</a:t>
          </a:r>
          <a:endParaRPr lang="en-US" sz="1400" kern="1200" dirty="0"/>
        </a:p>
      </dsp:txBody>
      <dsp:txXfrm>
        <a:off x="2830366" y="1382387"/>
        <a:ext cx="2404687" cy="1433795"/>
      </dsp:txXfrm>
    </dsp:sp>
    <dsp:sp modelId="{CF52BCBA-1812-42E6-82CC-00C2B93055C9}">
      <dsp:nvSpPr>
        <dsp:cNvPr id="0" name=""/>
        <dsp:cNvSpPr/>
      </dsp:nvSpPr>
      <dsp:spPr>
        <a:xfrm>
          <a:off x="2830366" y="2874334"/>
          <a:ext cx="2404687" cy="448804"/>
        </a:xfrm>
        <a:prstGeom prst="rect">
          <a:avLst/>
        </a:prstGeom>
        <a:noFill/>
        <a:ln>
          <a:noFill/>
        </a:ln>
        <a:effectLst/>
      </dsp:spPr>
      <dsp:style>
        <a:lnRef idx="0">
          <a:scrgbClr r="0" g="0" b="0"/>
        </a:lnRef>
        <a:fillRef idx="0">
          <a:scrgbClr r="0" g="0" b="0"/>
        </a:fillRef>
        <a:effectRef idx="0">
          <a:scrgbClr r="0" g="0" b="0"/>
        </a:effectRef>
        <a:fontRef idx="minor"/>
      </dsp:style>
    </dsp:sp>
    <dsp:sp modelId="{6611FCE2-22E4-482D-9B01-0DECD15DA715}">
      <dsp:nvSpPr>
        <dsp:cNvPr id="0" name=""/>
        <dsp:cNvSpPr/>
      </dsp:nvSpPr>
      <dsp:spPr>
        <a:xfrm>
          <a:off x="6437398" y="415723"/>
          <a:ext cx="841640" cy="8416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1756B9-7776-4984-AAD1-474DF6394EC7}">
      <dsp:nvSpPr>
        <dsp:cNvPr id="0" name=""/>
        <dsp:cNvSpPr/>
      </dsp:nvSpPr>
      <dsp:spPr>
        <a:xfrm>
          <a:off x="5655874" y="1382387"/>
          <a:ext cx="2404687" cy="1433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i="0" kern="1200" baseline="0" dirty="0"/>
            <a:t>Deletion Scenarios:</a:t>
          </a:r>
        </a:p>
        <a:p>
          <a:pPr marL="0" lvl="0" indent="0" algn="ctr" defTabSz="622300">
            <a:lnSpc>
              <a:spcPct val="100000"/>
            </a:lnSpc>
            <a:spcBef>
              <a:spcPct val="0"/>
            </a:spcBef>
            <a:spcAft>
              <a:spcPct val="35000"/>
            </a:spcAft>
            <a:buNone/>
            <a:defRPr b="1"/>
          </a:pPr>
          <a:r>
            <a:rPr lang="en-US" sz="1400" b="1" i="0" kern="1200" baseline="0" dirty="0"/>
            <a:t>Standard Files:</a:t>
          </a:r>
          <a:r>
            <a:rPr lang="en-US" sz="1400" b="0" i="0" kern="1200" baseline="0" dirty="0"/>
            <a:t> Moved to the Recycle Bin.</a:t>
          </a:r>
        </a:p>
        <a:p>
          <a:pPr marL="0" lvl="0" indent="0" algn="ctr" defTabSz="622300">
            <a:lnSpc>
              <a:spcPct val="100000"/>
            </a:lnSpc>
            <a:spcBef>
              <a:spcPct val="0"/>
            </a:spcBef>
            <a:spcAft>
              <a:spcPct val="35000"/>
            </a:spcAft>
            <a:buNone/>
            <a:defRPr b="1"/>
          </a:pPr>
          <a:r>
            <a:rPr lang="en-US" sz="1400" b="1" i="0" kern="1200" baseline="0" dirty="0"/>
            <a:t>Permanent Files:</a:t>
          </a:r>
          <a:r>
            <a:rPr lang="en-US" sz="1400" b="0" i="0" kern="1200" baseline="0" dirty="0"/>
            <a:t> "Shift + Delete" (Bypassing Recycle Bin).</a:t>
          </a:r>
          <a:endParaRPr lang="en-US" sz="1400" kern="1200" dirty="0"/>
        </a:p>
      </dsp:txBody>
      <dsp:txXfrm>
        <a:off x="5655874" y="1382387"/>
        <a:ext cx="2404687" cy="1433795"/>
      </dsp:txXfrm>
    </dsp:sp>
    <dsp:sp modelId="{21FE8999-8D5C-4394-AB16-E6E430884B71}">
      <dsp:nvSpPr>
        <dsp:cNvPr id="0" name=""/>
        <dsp:cNvSpPr/>
      </dsp:nvSpPr>
      <dsp:spPr>
        <a:xfrm>
          <a:off x="5655874" y="2874334"/>
          <a:ext cx="2404687" cy="448804"/>
        </a:xfrm>
        <a:prstGeom prst="rect">
          <a:avLst/>
        </a:prstGeom>
        <a:noFill/>
        <a:ln>
          <a:noFill/>
        </a:ln>
        <a:effectLst/>
      </dsp:spPr>
      <dsp:style>
        <a:lnRef idx="0">
          <a:scrgbClr r="0" g="0" b="0"/>
        </a:lnRef>
        <a:fillRef idx="0">
          <a:scrgbClr r="0" g="0" b="0"/>
        </a:fillRef>
        <a:effectRef idx="0">
          <a:scrgbClr r="0" g="0" b="0"/>
        </a:effectRef>
        <a:fontRef idx="minor"/>
      </dsp:style>
    </dsp:sp>
    <dsp:sp modelId="{1560CFAF-B66D-4B4A-920A-28E608DC9B75}">
      <dsp:nvSpPr>
        <dsp:cNvPr id="0" name=""/>
        <dsp:cNvSpPr/>
      </dsp:nvSpPr>
      <dsp:spPr>
        <a:xfrm>
          <a:off x="9262905" y="415723"/>
          <a:ext cx="841640" cy="84164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F5D0A1-843F-467D-A479-69318C732761}">
      <dsp:nvSpPr>
        <dsp:cNvPr id="0" name=""/>
        <dsp:cNvSpPr/>
      </dsp:nvSpPr>
      <dsp:spPr>
        <a:xfrm>
          <a:off x="8481382" y="1382387"/>
          <a:ext cx="2404687" cy="1433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i="0" kern="1200" baseline="0" dirty="0"/>
            <a:t>Verification:</a:t>
          </a:r>
        </a:p>
        <a:p>
          <a:pPr marL="0" lvl="0" indent="0" algn="ctr" defTabSz="622300">
            <a:lnSpc>
              <a:spcPct val="100000"/>
            </a:lnSpc>
            <a:spcBef>
              <a:spcPct val="0"/>
            </a:spcBef>
            <a:spcAft>
              <a:spcPct val="35000"/>
            </a:spcAft>
            <a:buNone/>
            <a:defRPr b="1"/>
          </a:pPr>
          <a:r>
            <a:rPr lang="en-US" sz="1400" b="0" i="0" kern="1200" baseline="0" dirty="0"/>
            <a:t>Cryptographic Hashes (SHA-256) compared to a Master List.</a:t>
          </a:r>
          <a:endParaRPr lang="en-US" sz="1400" kern="1200" dirty="0"/>
        </a:p>
      </dsp:txBody>
      <dsp:txXfrm>
        <a:off x="8481382" y="1382387"/>
        <a:ext cx="2404687" cy="1433795"/>
      </dsp:txXfrm>
    </dsp:sp>
    <dsp:sp modelId="{A8377335-61C0-408D-8284-E81CECAB1956}">
      <dsp:nvSpPr>
        <dsp:cNvPr id="0" name=""/>
        <dsp:cNvSpPr/>
      </dsp:nvSpPr>
      <dsp:spPr>
        <a:xfrm>
          <a:off x="8481382" y="2874334"/>
          <a:ext cx="2404687" cy="448804"/>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5432F8-E835-8644-ACF7-D58A3B20D21C}">
      <dsp:nvSpPr>
        <dsp:cNvPr id="0" name=""/>
        <dsp:cNvSpPr/>
      </dsp:nvSpPr>
      <dsp:spPr>
        <a:xfrm>
          <a:off x="850" y="0"/>
          <a:ext cx="3445958" cy="3738863"/>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0384" tIns="0" rIns="340384" bIns="330200" numCol="1" spcCol="1270" anchor="t" anchorCtr="0">
          <a:noAutofit/>
        </a:bodyPr>
        <a:lstStyle/>
        <a:p>
          <a:pPr marL="0" lvl="0" indent="0" algn="l" defTabSz="977900">
            <a:lnSpc>
              <a:spcPct val="90000"/>
            </a:lnSpc>
            <a:spcBef>
              <a:spcPct val="0"/>
            </a:spcBef>
            <a:spcAft>
              <a:spcPct val="35000"/>
            </a:spcAft>
            <a:buNone/>
          </a:pPr>
          <a:r>
            <a:rPr lang="en-US" sz="2200" b="1" i="0" kern="1200" baseline="0" dirty="0"/>
            <a:t>Deleted File Recovery:</a:t>
          </a:r>
          <a:r>
            <a:rPr lang="en-US" sz="2200" b="0" i="0" kern="1200" baseline="0" dirty="0"/>
            <a:t> Only 80% Accuracy.</a:t>
          </a:r>
          <a:endParaRPr lang="en-US" sz="2200" kern="1200" dirty="0"/>
        </a:p>
      </dsp:txBody>
      <dsp:txXfrm>
        <a:off x="850" y="1495545"/>
        <a:ext cx="3445958" cy="2243317"/>
      </dsp:txXfrm>
    </dsp:sp>
    <dsp:sp modelId="{59F6EC43-FDD1-9E4C-A0CA-12603C11979A}">
      <dsp:nvSpPr>
        <dsp:cNvPr id="0" name=""/>
        <dsp:cNvSpPr/>
      </dsp:nvSpPr>
      <dsp:spPr>
        <a:xfrm>
          <a:off x="850" y="0"/>
          <a:ext cx="3445958" cy="149554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0384" tIns="165100" rIns="34038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50" y="0"/>
        <a:ext cx="3445958" cy="1495545"/>
      </dsp:txXfrm>
    </dsp:sp>
    <dsp:sp modelId="{6349DDEE-A487-3546-8004-26D7F9D35969}">
      <dsp:nvSpPr>
        <dsp:cNvPr id="0" name=""/>
        <dsp:cNvSpPr/>
      </dsp:nvSpPr>
      <dsp:spPr>
        <a:xfrm>
          <a:off x="3722485" y="0"/>
          <a:ext cx="3445958" cy="3738863"/>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0384" tIns="0" rIns="340384" bIns="330200" numCol="1" spcCol="1270" anchor="t" anchorCtr="0">
          <a:noAutofit/>
        </a:bodyPr>
        <a:lstStyle/>
        <a:p>
          <a:pPr marL="0" lvl="0" indent="0" algn="l" defTabSz="977900">
            <a:lnSpc>
              <a:spcPct val="90000"/>
            </a:lnSpc>
            <a:spcBef>
              <a:spcPct val="0"/>
            </a:spcBef>
            <a:spcAft>
              <a:spcPct val="35000"/>
            </a:spcAft>
            <a:buNone/>
          </a:pPr>
          <a:r>
            <a:rPr lang="en-US" sz="2200" b="1" i="0" kern="1200" baseline="0"/>
            <a:t>The "Shift + Delete" Failure for Secrets.txt:</a:t>
          </a:r>
          <a:endParaRPr lang="en-US" sz="2200" kern="1200"/>
        </a:p>
        <a:p>
          <a:pPr marL="171450" lvl="1" indent="-171450" algn="l" defTabSz="755650">
            <a:lnSpc>
              <a:spcPct val="90000"/>
            </a:lnSpc>
            <a:spcBef>
              <a:spcPct val="0"/>
            </a:spcBef>
            <a:spcAft>
              <a:spcPct val="15000"/>
            </a:spcAft>
            <a:buChar char="•"/>
          </a:pPr>
          <a:r>
            <a:rPr lang="en-US" sz="1700" b="1" i="0" kern="1200" baseline="0" dirty="0"/>
            <a:t>Metadata:</a:t>
          </a:r>
          <a:r>
            <a:rPr lang="en-US" sz="1700" b="0" i="0" kern="1200" baseline="0" dirty="0"/>
            <a:t> Present (File listed as recovered).</a:t>
          </a:r>
          <a:endParaRPr lang="en-US" sz="1700" kern="1200" dirty="0"/>
        </a:p>
        <a:p>
          <a:pPr marL="171450" lvl="1" indent="-171450" algn="l" defTabSz="755650">
            <a:lnSpc>
              <a:spcPct val="90000"/>
            </a:lnSpc>
            <a:spcBef>
              <a:spcPct val="0"/>
            </a:spcBef>
            <a:spcAft>
              <a:spcPct val="15000"/>
            </a:spcAft>
            <a:buChar char="•"/>
          </a:pPr>
          <a:r>
            <a:rPr lang="en-US" sz="1700" b="1" i="0" kern="1200" baseline="0"/>
            <a:t>Content:</a:t>
          </a:r>
          <a:r>
            <a:rPr lang="en-US" sz="1700" b="0" i="0" kern="1200" baseline="0"/>
            <a:t> Corrupted (Hex view shows binary noise).</a:t>
          </a:r>
          <a:endParaRPr lang="en-US" sz="1700" kern="1200"/>
        </a:p>
      </dsp:txBody>
      <dsp:txXfrm>
        <a:off x="3722485" y="1495545"/>
        <a:ext cx="3445958" cy="2243317"/>
      </dsp:txXfrm>
    </dsp:sp>
    <dsp:sp modelId="{200221D1-B9FA-0549-BECA-1A3E1A3ED429}">
      <dsp:nvSpPr>
        <dsp:cNvPr id="0" name=""/>
        <dsp:cNvSpPr/>
      </dsp:nvSpPr>
      <dsp:spPr>
        <a:xfrm>
          <a:off x="3722485" y="0"/>
          <a:ext cx="3445958" cy="149554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0384" tIns="165100" rIns="34038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722485" y="0"/>
        <a:ext cx="3445958" cy="1495545"/>
      </dsp:txXfrm>
    </dsp:sp>
    <dsp:sp modelId="{4B694667-139F-AE40-944E-E0EB929E9928}">
      <dsp:nvSpPr>
        <dsp:cNvPr id="0" name=""/>
        <dsp:cNvSpPr/>
      </dsp:nvSpPr>
      <dsp:spPr>
        <a:xfrm>
          <a:off x="7444120" y="0"/>
          <a:ext cx="3445958" cy="3738863"/>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0384" tIns="0" rIns="340384" bIns="330200" numCol="1" spcCol="1270" anchor="t" anchorCtr="0">
          <a:noAutofit/>
        </a:bodyPr>
        <a:lstStyle/>
        <a:p>
          <a:pPr marL="0" lvl="0" indent="0" algn="l" defTabSz="977900">
            <a:lnSpc>
              <a:spcPct val="90000"/>
            </a:lnSpc>
            <a:spcBef>
              <a:spcPct val="0"/>
            </a:spcBef>
            <a:spcAft>
              <a:spcPct val="35000"/>
            </a:spcAft>
            <a:buNone/>
          </a:pPr>
          <a:r>
            <a:rPr lang="en-US" sz="2200" b="1" i="0" kern="1200" baseline="0" dirty="0"/>
            <a:t>System Files:</a:t>
          </a:r>
          <a:r>
            <a:rPr lang="en-US" sz="2200" b="0" i="0" kern="1200" baseline="0" dirty="0"/>
            <a:t> desktop.ini was completely lost/overwritten.</a:t>
          </a:r>
          <a:endParaRPr lang="en-US" sz="2200" kern="1200" dirty="0"/>
        </a:p>
      </dsp:txBody>
      <dsp:txXfrm>
        <a:off x="7444120" y="1495545"/>
        <a:ext cx="3445958" cy="2243317"/>
      </dsp:txXfrm>
    </dsp:sp>
    <dsp:sp modelId="{D83A9B23-62DA-5F4A-BD61-ADD88C251F86}">
      <dsp:nvSpPr>
        <dsp:cNvPr id="0" name=""/>
        <dsp:cNvSpPr/>
      </dsp:nvSpPr>
      <dsp:spPr>
        <a:xfrm>
          <a:off x="7444120" y="0"/>
          <a:ext cx="3445958" cy="149554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0384" tIns="165100" rIns="34038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444120" y="0"/>
        <a:ext cx="3445958" cy="14955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A00D13-B76A-4C60-9175-4E2393B1D0EA}">
      <dsp:nvSpPr>
        <dsp:cNvPr id="0" name=""/>
        <dsp:cNvSpPr/>
      </dsp:nvSpPr>
      <dsp:spPr>
        <a:xfrm>
          <a:off x="2154681" y="6685"/>
          <a:ext cx="1510523" cy="14937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ED777B-98C3-45AD-A12A-2C0CABE2E791}">
      <dsp:nvSpPr>
        <dsp:cNvPr id="0" name=""/>
        <dsp:cNvSpPr/>
      </dsp:nvSpPr>
      <dsp:spPr>
        <a:xfrm>
          <a:off x="752052" y="1659394"/>
          <a:ext cx="4315781" cy="640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b="1"/>
          </a:pPr>
          <a:r>
            <a:rPr lang="en-US" sz="2300" b="1" i="0" kern="1200" baseline="0"/>
            <a:t>Adaptive Forensic Verification Protocol (AFVP)</a:t>
          </a:r>
          <a:r>
            <a:rPr lang="en-US" sz="2300" b="0" i="0" kern="1200" baseline="0"/>
            <a:t>:</a:t>
          </a:r>
          <a:endParaRPr lang="en-US" sz="2300" kern="1200"/>
        </a:p>
      </dsp:txBody>
      <dsp:txXfrm>
        <a:off x="752052" y="1659394"/>
        <a:ext cx="4315781" cy="640168"/>
      </dsp:txXfrm>
    </dsp:sp>
    <dsp:sp modelId="{F3C7EFC4-0DB2-4B34-856F-B1C29138465D}">
      <dsp:nvSpPr>
        <dsp:cNvPr id="0" name=""/>
        <dsp:cNvSpPr/>
      </dsp:nvSpPr>
      <dsp:spPr>
        <a:xfrm>
          <a:off x="752052" y="2373508"/>
          <a:ext cx="4315781" cy="1358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i="0" kern="1200" baseline="0"/>
            <a:t>Locate:</a:t>
          </a:r>
          <a:r>
            <a:rPr lang="en-US" sz="1700" b="0" i="0" kern="1200" baseline="0"/>
            <a:t> Use Autopsy to find files.</a:t>
          </a:r>
          <a:endParaRPr lang="en-US" sz="1700" kern="1200"/>
        </a:p>
        <a:p>
          <a:pPr marL="0" lvl="0" indent="0" algn="ctr" defTabSz="755650">
            <a:lnSpc>
              <a:spcPct val="90000"/>
            </a:lnSpc>
            <a:spcBef>
              <a:spcPct val="0"/>
            </a:spcBef>
            <a:spcAft>
              <a:spcPct val="35000"/>
            </a:spcAft>
            <a:buNone/>
          </a:pPr>
          <a:r>
            <a:rPr lang="en-US" sz="1700" b="1" i="0" kern="1200" baseline="0"/>
            <a:t>Hex Check:</a:t>
          </a:r>
          <a:r>
            <a:rPr lang="en-US" sz="1700" b="0" i="0" kern="1200" baseline="0"/>
            <a:t> Manually verify file signatures and don't trust the filename.</a:t>
          </a:r>
          <a:endParaRPr lang="en-US" sz="1700" kern="1200"/>
        </a:p>
        <a:p>
          <a:pPr marL="0" lvl="0" indent="0" algn="ctr" defTabSz="755650">
            <a:lnSpc>
              <a:spcPct val="90000"/>
            </a:lnSpc>
            <a:spcBef>
              <a:spcPct val="0"/>
            </a:spcBef>
            <a:spcAft>
              <a:spcPct val="35000"/>
            </a:spcAft>
            <a:buNone/>
          </a:pPr>
          <a:r>
            <a:rPr lang="en-US" sz="1700" b="1" i="0" kern="1200" baseline="0"/>
            <a:t>Double Check:</a:t>
          </a:r>
          <a:r>
            <a:rPr lang="en-US" sz="1700" b="0" i="0" kern="1200" baseline="0"/>
            <a:t> Use command-line tools (Sleuth Kit) for independent verification.</a:t>
          </a:r>
          <a:endParaRPr lang="en-US" sz="1700" kern="1200"/>
        </a:p>
      </dsp:txBody>
      <dsp:txXfrm>
        <a:off x="752052" y="2373508"/>
        <a:ext cx="4315781" cy="1358669"/>
      </dsp:txXfrm>
    </dsp:sp>
    <dsp:sp modelId="{2779C871-65EC-47BE-8D3D-E184E0FA155C}">
      <dsp:nvSpPr>
        <dsp:cNvPr id="0" name=""/>
        <dsp:cNvSpPr/>
      </dsp:nvSpPr>
      <dsp:spPr>
        <a:xfrm>
          <a:off x="7225724" y="6685"/>
          <a:ext cx="1510523" cy="14937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8087E2-FCBB-4636-90DC-57679FF6769E}">
      <dsp:nvSpPr>
        <dsp:cNvPr id="0" name=""/>
        <dsp:cNvSpPr/>
      </dsp:nvSpPr>
      <dsp:spPr>
        <a:xfrm>
          <a:off x="5823095" y="1659394"/>
          <a:ext cx="4315781" cy="640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b="1"/>
          </a:pPr>
          <a:r>
            <a:rPr lang="en-US" sz="2300" b="1" i="0" kern="1200" baseline="0"/>
            <a:t>Recommendation for Small Labs:</a:t>
          </a:r>
          <a:r>
            <a:rPr lang="en-US" sz="2300" b="0" i="0" kern="1200" baseline="0"/>
            <a:t> </a:t>
          </a:r>
          <a:endParaRPr lang="en-US" sz="2300" kern="1200"/>
        </a:p>
      </dsp:txBody>
      <dsp:txXfrm>
        <a:off x="5823095" y="1659394"/>
        <a:ext cx="4315781" cy="640168"/>
      </dsp:txXfrm>
    </dsp:sp>
    <dsp:sp modelId="{FDBD8EC1-12A0-41E8-B6DD-9DB4A2C4920E}">
      <dsp:nvSpPr>
        <dsp:cNvPr id="0" name=""/>
        <dsp:cNvSpPr/>
      </dsp:nvSpPr>
      <dsp:spPr>
        <a:xfrm>
          <a:off x="5823095" y="2373508"/>
          <a:ext cx="4315781" cy="1358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0" i="0" kern="1200" baseline="0"/>
            <a:t>Maintain a "Golden Image" USB drive for quarterly reliability checks.</a:t>
          </a:r>
          <a:endParaRPr lang="en-US" sz="1700" kern="1200"/>
        </a:p>
      </dsp:txBody>
      <dsp:txXfrm>
        <a:off x="5823095" y="2373508"/>
        <a:ext cx="4315781" cy="135866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3BEAB-36C0-EA4B-AA5A-A4847F91B8F8}" type="datetimeFigureOut">
              <a:rPr lang="en-US" smtClean="0"/>
              <a:t>12/10/25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375A04-0BA8-4A41-91A8-71D7C5593B48}" type="slidenum">
              <a:rPr lang="en-US" smtClean="0"/>
              <a:t>‹#›</a:t>
            </a:fld>
            <a:endParaRPr lang="en-US"/>
          </a:p>
        </p:txBody>
      </p:sp>
    </p:spTree>
    <p:extLst>
      <p:ext uri="{BB962C8B-B14F-4D97-AF65-F5344CB8AC3E}">
        <p14:creationId xmlns:p14="http://schemas.microsoft.com/office/powerpoint/2010/main" val="833869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Hello everyone. Today I will be presenting a validation study on </a:t>
            </a:r>
            <a:r>
              <a:rPr lang="en-US" sz="1200" b="1" i="0" u="none" strike="noStrike" kern="1200" dirty="0">
                <a:solidFill>
                  <a:schemeClr val="tx1"/>
                </a:solidFill>
                <a:effectLst/>
                <a:latin typeface="+mn-lt"/>
                <a:ea typeface="+mn-ea"/>
                <a:cs typeface="+mn-cs"/>
              </a:rPr>
              <a:t>Autopsy (v4.22.1)</a:t>
            </a:r>
            <a:r>
              <a:rPr lang="en-US" sz="1200" b="0" i="0" u="none" strike="noStrike" kern="1200" dirty="0">
                <a:solidFill>
                  <a:schemeClr val="tx1"/>
                </a:solidFill>
                <a:effectLst/>
                <a:latin typeface="+mn-lt"/>
                <a:ea typeface="+mn-ea"/>
                <a:cs typeface="+mn-cs"/>
              </a:rPr>
              <a:t>, one of the most widely used open-source digital forensic tools. While large government agencies have resources for expensive tools like EnCase, many small labs rely on Autopsy. This research asks a critical question: Can small labs prove their tool is reliable in court without a massive budget?</a:t>
            </a:r>
            <a:endParaRPr lang="en-US" dirty="0"/>
          </a:p>
        </p:txBody>
      </p:sp>
      <p:sp>
        <p:nvSpPr>
          <p:cNvPr id="4" name="Slide Number Placeholder 3"/>
          <p:cNvSpPr>
            <a:spLocks noGrp="1"/>
          </p:cNvSpPr>
          <p:nvPr>
            <p:ph type="sldNum" sz="quarter" idx="5"/>
          </p:nvPr>
        </p:nvSpPr>
        <p:spPr/>
        <p:txBody>
          <a:bodyPr/>
          <a:lstStyle/>
          <a:p>
            <a:fld id="{CD375A04-0BA8-4A41-91A8-71D7C5593B48}" type="slidenum">
              <a:rPr lang="en-US" smtClean="0"/>
              <a:t>1</a:t>
            </a:fld>
            <a:endParaRPr lang="en-US"/>
          </a:p>
        </p:txBody>
      </p:sp>
    </p:spTree>
    <p:extLst>
      <p:ext uri="{BB962C8B-B14F-4D97-AF65-F5344CB8AC3E}">
        <p14:creationId xmlns:p14="http://schemas.microsoft.com/office/powerpoint/2010/main" val="3149743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In digital forensics, evidence is scrutinized closely. Under standards like the Daubert rule, we must show our methods are reliable. The problem is that official validation tests from NIST are often too complicated for a standard student or small lab to perform quickly. Furthermore, many investigators assume tools work perfectly, which is dangerous. This study aims to fill that gap by creating a straightforward experiment to verify if Autopsy can accurately locate files and report metadata correctly.</a:t>
            </a:r>
            <a:endParaRPr lang="en-US" dirty="0"/>
          </a:p>
        </p:txBody>
      </p:sp>
      <p:sp>
        <p:nvSpPr>
          <p:cNvPr id="4" name="Slide Number Placeholder 3"/>
          <p:cNvSpPr>
            <a:spLocks noGrp="1"/>
          </p:cNvSpPr>
          <p:nvPr>
            <p:ph type="sldNum" sz="quarter" idx="5"/>
          </p:nvPr>
        </p:nvSpPr>
        <p:spPr/>
        <p:txBody>
          <a:bodyPr/>
          <a:lstStyle/>
          <a:p>
            <a:fld id="{CD375A04-0BA8-4A41-91A8-71D7C5593B48}" type="slidenum">
              <a:rPr lang="en-US" smtClean="0"/>
              <a:t>2</a:t>
            </a:fld>
            <a:endParaRPr lang="en-US"/>
          </a:p>
        </p:txBody>
      </p:sp>
    </p:spTree>
    <p:extLst>
      <p:ext uri="{BB962C8B-B14F-4D97-AF65-F5344CB8AC3E}">
        <p14:creationId xmlns:p14="http://schemas.microsoft.com/office/powerpoint/2010/main" val="3369442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Speaker Notes (1:00):</a:t>
            </a:r>
            <a:r>
              <a:rPr lang="en-US" sz="1200" b="0" i="0" u="none" strike="noStrike" kern="1200" dirty="0">
                <a:solidFill>
                  <a:schemeClr val="tx1"/>
                </a:solidFill>
                <a:effectLst/>
                <a:latin typeface="+mn-lt"/>
                <a:ea typeface="+mn-ea"/>
                <a:cs typeface="+mn-cs"/>
              </a:rPr>
              <a:t> "To test the tool, I couldn't just use a random hard drive. I needed a 'Ground Truth' dataset—meaning I built the drive from scratch, so I knew exactly what was on it. I populated a clean NTFS drive with 55 files—documents and images. Crucially, I created specific scenarios to trigger errors. I used '</a:t>
            </a:r>
            <a:r>
              <a:rPr lang="en-US" sz="1200" b="0" i="0" u="none" strike="noStrike" kern="1200" dirty="0" err="1">
                <a:solidFill>
                  <a:schemeClr val="tx1"/>
                </a:solidFill>
                <a:effectLst/>
                <a:latin typeface="+mn-lt"/>
                <a:ea typeface="+mn-ea"/>
                <a:cs typeface="+mn-cs"/>
              </a:rPr>
              <a:t>Shift+Delete</a:t>
            </a:r>
            <a:r>
              <a:rPr lang="en-US" sz="1200" b="0" i="0" u="none" strike="noStrike" kern="1200" dirty="0">
                <a:solidFill>
                  <a:schemeClr val="tx1"/>
                </a:solidFill>
                <a:effectLst/>
                <a:latin typeface="+mn-lt"/>
                <a:ea typeface="+mn-ea"/>
                <a:cs typeface="+mn-cs"/>
              </a:rPr>
              <a:t>' on a file named </a:t>
            </a:r>
            <a:r>
              <a:rPr lang="en-US" sz="1200" b="0" i="0" u="none" strike="noStrike" kern="1200" dirty="0" err="1">
                <a:solidFill>
                  <a:schemeClr val="tx1"/>
                </a:solidFill>
                <a:effectLst/>
                <a:latin typeface="+mn-lt"/>
                <a:ea typeface="+mn-ea"/>
                <a:cs typeface="+mn-cs"/>
              </a:rPr>
              <a:t>Secrets.txt</a:t>
            </a:r>
            <a:r>
              <a:rPr lang="en-US" sz="1200" b="0" i="0" u="none" strike="noStrike" kern="1200" dirty="0">
                <a:solidFill>
                  <a:schemeClr val="tx1"/>
                </a:solidFill>
                <a:effectLst/>
                <a:latin typeface="+mn-lt"/>
                <a:ea typeface="+mn-ea"/>
                <a:cs typeface="+mn-cs"/>
              </a:rPr>
              <a:t> to bypass the recycle bin and force immediate table updates. Finally, I generated hash values for every file to act as a master key for verification."</a:t>
            </a:r>
            <a:endParaRPr lang="en-US" dirty="0"/>
          </a:p>
          <a:p>
            <a:br>
              <a:rPr lang="en-US" dirty="0"/>
            </a:br>
            <a:endParaRPr lang="en-US" dirty="0"/>
          </a:p>
        </p:txBody>
      </p:sp>
      <p:sp>
        <p:nvSpPr>
          <p:cNvPr id="4" name="Slide Number Placeholder 3"/>
          <p:cNvSpPr>
            <a:spLocks noGrp="1"/>
          </p:cNvSpPr>
          <p:nvPr>
            <p:ph type="sldNum" sz="quarter" idx="5"/>
          </p:nvPr>
        </p:nvSpPr>
        <p:spPr/>
        <p:txBody>
          <a:bodyPr/>
          <a:lstStyle/>
          <a:p>
            <a:fld id="{CD375A04-0BA8-4A41-91A8-71D7C5593B48}" type="slidenum">
              <a:rPr lang="en-US" smtClean="0"/>
              <a:t>3</a:t>
            </a:fld>
            <a:endParaRPr lang="en-US"/>
          </a:p>
        </p:txBody>
      </p:sp>
    </p:spTree>
    <p:extLst>
      <p:ext uri="{BB962C8B-B14F-4D97-AF65-F5344CB8AC3E}">
        <p14:creationId xmlns:p14="http://schemas.microsoft.com/office/powerpoint/2010/main" val="4095021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Speaker Notes (0:45):</a:t>
            </a:r>
            <a:r>
              <a:rPr lang="en-US" sz="1200" b="0" i="0" u="none" strike="noStrike" kern="1200" dirty="0">
                <a:solidFill>
                  <a:schemeClr val="tx1"/>
                </a:solidFill>
                <a:effectLst/>
                <a:latin typeface="+mn-lt"/>
                <a:ea typeface="+mn-ea"/>
                <a:cs typeface="+mn-cs"/>
              </a:rPr>
              <a:t> "Let's look at the results. For files that were still present on the disk (allocated), Autopsy performed exceptionally well with over 98% accuracy. As you can see from the directory tree analysis, Autopsy successfully rebuilt the folder structure. It even located the 'Secrets' folder. This is vital in court because proving a folder named 'Secrets' existed helps establish user intent, even if the files inside are missing."</a:t>
            </a:r>
            <a:endParaRPr lang="en-US" dirty="0"/>
          </a:p>
          <a:p>
            <a:br>
              <a:rPr lang="en-US" dirty="0"/>
            </a:br>
            <a:endParaRPr lang="en-US" dirty="0"/>
          </a:p>
        </p:txBody>
      </p:sp>
      <p:sp>
        <p:nvSpPr>
          <p:cNvPr id="4" name="Slide Number Placeholder 3"/>
          <p:cNvSpPr>
            <a:spLocks noGrp="1"/>
          </p:cNvSpPr>
          <p:nvPr>
            <p:ph type="sldNum" sz="quarter" idx="5"/>
          </p:nvPr>
        </p:nvSpPr>
        <p:spPr/>
        <p:txBody>
          <a:bodyPr/>
          <a:lstStyle/>
          <a:p>
            <a:fld id="{CD375A04-0BA8-4A41-91A8-71D7C5593B48}" type="slidenum">
              <a:rPr lang="en-US" smtClean="0"/>
              <a:t>4</a:t>
            </a:fld>
            <a:endParaRPr lang="en-US"/>
          </a:p>
        </p:txBody>
      </p:sp>
    </p:spTree>
    <p:extLst>
      <p:ext uri="{BB962C8B-B14F-4D97-AF65-F5344CB8AC3E}">
        <p14:creationId xmlns:p14="http://schemas.microsoft.com/office/powerpoint/2010/main" val="582730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Speaker Notes (1:15):</a:t>
            </a:r>
            <a:r>
              <a:rPr lang="en-US" sz="1200" b="0" i="0" u="none" strike="noStrike" kern="1200" dirty="0">
                <a:solidFill>
                  <a:schemeClr val="tx1"/>
                </a:solidFill>
                <a:effectLst/>
                <a:latin typeface="+mn-lt"/>
                <a:ea typeface="+mn-ea"/>
                <a:cs typeface="+mn-cs"/>
              </a:rPr>
              <a:t> "However, the tool struggled with deleted files, achieving only 80% accuracy. This is the most critical finding: The '</a:t>
            </a:r>
            <a:r>
              <a:rPr lang="en-US" sz="1200" b="0" i="0" u="none" strike="noStrike" kern="1200" dirty="0" err="1">
                <a:solidFill>
                  <a:schemeClr val="tx1"/>
                </a:solidFill>
                <a:effectLst/>
                <a:latin typeface="+mn-lt"/>
                <a:ea typeface="+mn-ea"/>
                <a:cs typeface="+mn-cs"/>
              </a:rPr>
              <a:t>Shift+Delete</a:t>
            </a:r>
            <a:r>
              <a:rPr lang="en-US" sz="1200" b="0" i="0" u="none" strike="noStrike" kern="1200" dirty="0">
                <a:solidFill>
                  <a:schemeClr val="tx1"/>
                </a:solidFill>
                <a:effectLst/>
                <a:latin typeface="+mn-lt"/>
                <a:ea typeface="+mn-ea"/>
                <a:cs typeface="+mn-cs"/>
              </a:rPr>
              <a:t>' scenario caused a dangerous inconsistency. Autopsy listed the file </a:t>
            </a:r>
            <a:r>
              <a:rPr lang="en-US" sz="1200" b="0" i="0" u="none" strike="noStrike" kern="1200" dirty="0" err="1">
                <a:solidFill>
                  <a:schemeClr val="tx1"/>
                </a:solidFill>
                <a:effectLst/>
                <a:latin typeface="+mn-lt"/>
                <a:ea typeface="+mn-ea"/>
                <a:cs typeface="+mn-cs"/>
              </a:rPr>
              <a:t>Secrets.txt</a:t>
            </a:r>
            <a:r>
              <a:rPr lang="en-US" sz="1200" b="0" i="0" u="none" strike="noStrike" kern="1200" dirty="0">
                <a:solidFill>
                  <a:schemeClr val="tx1"/>
                </a:solidFill>
                <a:effectLst/>
                <a:latin typeface="+mn-lt"/>
                <a:ea typeface="+mn-ea"/>
                <a:cs typeface="+mn-cs"/>
              </a:rPr>
              <a:t> as recovered and showed its metadata. But, when I looked at the Hex View—the actual raw data—the text 'The secret password is...' was gone. It was replaced by random binary noise. The OS had reused the space immediately. If an investigator didn't check the Hex, they would present false evidence to the court. We also found that system files like </a:t>
            </a:r>
            <a:r>
              <a:rPr lang="en-US" sz="1200" b="0" i="0" u="none" strike="noStrike" kern="1200" dirty="0" err="1">
                <a:solidFill>
                  <a:schemeClr val="tx1"/>
                </a:solidFill>
                <a:effectLst/>
                <a:latin typeface="+mn-lt"/>
                <a:ea typeface="+mn-ea"/>
                <a:cs typeface="+mn-cs"/>
              </a:rPr>
              <a:t>desktop.ini</a:t>
            </a:r>
            <a:r>
              <a:rPr lang="en-US" sz="1200" b="0" i="0" u="none" strike="noStrike" kern="1200" dirty="0">
                <a:solidFill>
                  <a:schemeClr val="tx1"/>
                </a:solidFill>
                <a:effectLst/>
                <a:latin typeface="+mn-lt"/>
                <a:ea typeface="+mn-ea"/>
                <a:cs typeface="+mn-cs"/>
              </a:rPr>
              <a:t> were overwritten much faster than user files, making recovery unpredictable."</a:t>
            </a:r>
            <a:endParaRPr lang="en-US" dirty="0"/>
          </a:p>
          <a:p>
            <a:br>
              <a:rPr lang="en-US" dirty="0"/>
            </a:br>
            <a:endParaRPr lang="en-US" dirty="0"/>
          </a:p>
        </p:txBody>
      </p:sp>
      <p:sp>
        <p:nvSpPr>
          <p:cNvPr id="4" name="Slide Number Placeholder 3"/>
          <p:cNvSpPr>
            <a:spLocks noGrp="1"/>
          </p:cNvSpPr>
          <p:nvPr>
            <p:ph type="sldNum" sz="quarter" idx="5"/>
          </p:nvPr>
        </p:nvSpPr>
        <p:spPr/>
        <p:txBody>
          <a:bodyPr/>
          <a:lstStyle/>
          <a:p>
            <a:fld id="{CD375A04-0BA8-4A41-91A8-71D7C5593B48}" type="slidenum">
              <a:rPr lang="en-US" smtClean="0"/>
              <a:t>5</a:t>
            </a:fld>
            <a:endParaRPr lang="en-US"/>
          </a:p>
        </p:txBody>
      </p:sp>
    </p:spTree>
    <p:extLst>
      <p:ext uri="{BB962C8B-B14F-4D97-AF65-F5344CB8AC3E}">
        <p14:creationId xmlns:p14="http://schemas.microsoft.com/office/powerpoint/2010/main" val="1404181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Speaker Notes (0:45):</a:t>
            </a:r>
            <a:r>
              <a:rPr lang="en-US" sz="1200" b="0" i="0" u="none" strike="noStrike" kern="1200" dirty="0">
                <a:solidFill>
                  <a:schemeClr val="tx1"/>
                </a:solidFill>
                <a:effectLst/>
                <a:latin typeface="+mn-lt"/>
                <a:ea typeface="+mn-ea"/>
                <a:cs typeface="+mn-cs"/>
              </a:rPr>
              <a:t> "Another major issue was timeline reconstruction. Autopsy often defaults to the examiner's local time rather than the file system time. In my test, an image taken at 2:00 PM showed up as 8:00 AM in the file list. Without validating these </a:t>
            </a:r>
            <a:r>
              <a:rPr lang="en-US" sz="1200" b="0" i="0" u="none" strike="noStrike" kern="1200" dirty="0" err="1">
                <a:solidFill>
                  <a:schemeClr val="tx1"/>
                </a:solidFill>
                <a:effectLst/>
                <a:latin typeface="+mn-lt"/>
                <a:ea typeface="+mn-ea"/>
                <a:cs typeface="+mn-cs"/>
              </a:rPr>
              <a:t>timezone</a:t>
            </a:r>
            <a:r>
              <a:rPr lang="en-US" sz="1200" b="0" i="0" u="none" strike="noStrike" kern="1200" dirty="0">
                <a:solidFill>
                  <a:schemeClr val="tx1"/>
                </a:solidFill>
                <a:effectLst/>
                <a:latin typeface="+mn-lt"/>
                <a:ea typeface="+mn-ea"/>
                <a:cs typeface="+mn-cs"/>
              </a:rPr>
              <a:t> settings, an investigator could make a timeline error of several hours, which could ruin a suspect's alibi or a prosecution's case."</a:t>
            </a:r>
            <a:endParaRPr lang="en-US" dirty="0"/>
          </a:p>
          <a:p>
            <a:br>
              <a:rPr lang="en-US" dirty="0"/>
            </a:br>
            <a:endParaRPr lang="en-US" dirty="0"/>
          </a:p>
        </p:txBody>
      </p:sp>
      <p:sp>
        <p:nvSpPr>
          <p:cNvPr id="4" name="Slide Number Placeholder 3"/>
          <p:cNvSpPr>
            <a:spLocks noGrp="1"/>
          </p:cNvSpPr>
          <p:nvPr>
            <p:ph type="sldNum" sz="quarter" idx="5"/>
          </p:nvPr>
        </p:nvSpPr>
        <p:spPr/>
        <p:txBody>
          <a:bodyPr/>
          <a:lstStyle/>
          <a:p>
            <a:fld id="{CD375A04-0BA8-4A41-91A8-71D7C5593B48}" type="slidenum">
              <a:rPr lang="en-US" smtClean="0"/>
              <a:t>6</a:t>
            </a:fld>
            <a:endParaRPr lang="en-US"/>
          </a:p>
        </p:txBody>
      </p:sp>
    </p:spTree>
    <p:extLst>
      <p:ext uri="{BB962C8B-B14F-4D97-AF65-F5344CB8AC3E}">
        <p14:creationId xmlns:p14="http://schemas.microsoft.com/office/powerpoint/2010/main" val="1212140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Speaker Notes (1:00):</a:t>
            </a:r>
            <a:r>
              <a:rPr lang="en-US" sz="1200" b="0" i="0" u="none" strike="noStrike" kern="1200" dirty="0">
                <a:solidFill>
                  <a:schemeClr val="tx1"/>
                </a:solidFill>
                <a:effectLst/>
                <a:latin typeface="+mn-lt"/>
                <a:ea typeface="+mn-ea"/>
                <a:cs typeface="+mn-cs"/>
              </a:rPr>
              <a:t> "So, how do we fix this? I propose a 'Lightweight Validation Protocol' for small labs. We call it the Adaptive Forensic Verification Protocol. First, do not blindly trust a 'Recovered' status. Second, you must look at the Hex view to ensure the file header matches the file type. Third, small labs should keep a 'Golden Image'—a USB drive with known data—and test their tools against it quarterly to catch these updates and errors before they happen in a real case."</a:t>
            </a:r>
            <a:endParaRPr lang="en-US" dirty="0"/>
          </a:p>
          <a:p>
            <a:br>
              <a:rPr lang="en-US" dirty="0"/>
            </a:br>
            <a:endParaRPr lang="en-US" dirty="0"/>
          </a:p>
        </p:txBody>
      </p:sp>
      <p:sp>
        <p:nvSpPr>
          <p:cNvPr id="4" name="Slide Number Placeholder 3"/>
          <p:cNvSpPr>
            <a:spLocks noGrp="1"/>
          </p:cNvSpPr>
          <p:nvPr>
            <p:ph type="sldNum" sz="quarter" idx="5"/>
          </p:nvPr>
        </p:nvSpPr>
        <p:spPr/>
        <p:txBody>
          <a:bodyPr/>
          <a:lstStyle/>
          <a:p>
            <a:fld id="{CD375A04-0BA8-4A41-91A8-71D7C5593B48}" type="slidenum">
              <a:rPr lang="en-US" smtClean="0"/>
              <a:t>7</a:t>
            </a:fld>
            <a:endParaRPr lang="en-US"/>
          </a:p>
        </p:txBody>
      </p:sp>
    </p:spTree>
    <p:extLst>
      <p:ext uri="{BB962C8B-B14F-4D97-AF65-F5344CB8AC3E}">
        <p14:creationId xmlns:p14="http://schemas.microsoft.com/office/powerpoint/2010/main" val="736320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Speaker Notes (0:30):</a:t>
            </a:r>
            <a:r>
              <a:rPr lang="en-US" sz="1200" b="0" i="0" u="none" strike="noStrike" kern="1200" dirty="0">
                <a:solidFill>
                  <a:schemeClr val="tx1"/>
                </a:solidFill>
                <a:effectLst/>
                <a:latin typeface="+mn-lt"/>
                <a:ea typeface="+mn-ea"/>
                <a:cs typeface="+mn-cs"/>
              </a:rPr>
              <a:t> "In conclusion, Autopsy is a solid tool, but it has blind spots. It excels at finding active files, but the '</a:t>
            </a:r>
            <a:r>
              <a:rPr lang="en-US" sz="1200" b="0" i="0" u="none" strike="noStrike" kern="1200" dirty="0" err="1">
                <a:solidFill>
                  <a:schemeClr val="tx1"/>
                </a:solidFill>
                <a:effectLst/>
                <a:latin typeface="+mn-lt"/>
                <a:ea typeface="+mn-ea"/>
                <a:cs typeface="+mn-cs"/>
              </a:rPr>
              <a:t>Shift+Delete</a:t>
            </a:r>
            <a:r>
              <a:rPr lang="en-US" sz="1200" b="0" i="0" u="none" strike="noStrike" kern="1200" dirty="0">
                <a:solidFill>
                  <a:schemeClr val="tx1"/>
                </a:solidFill>
                <a:effectLst/>
                <a:latin typeface="+mn-lt"/>
                <a:ea typeface="+mn-ea"/>
                <a:cs typeface="+mn-cs"/>
              </a:rPr>
              <a:t>' test proves you cannot trust the file list alone. The metadata might be there while the content is </a:t>
            </a:r>
            <a:r>
              <a:rPr lang="en-US" sz="1200" b="0" i="0" u="none" strike="noStrike" kern="1200" dirty="0" err="1">
                <a:solidFill>
                  <a:schemeClr val="tx1"/>
                </a:solidFill>
                <a:effectLst/>
                <a:latin typeface="+mn-lt"/>
                <a:ea typeface="+mn-ea"/>
                <a:cs typeface="+mn-cs"/>
              </a:rPr>
              <a:t>gone.Our</a:t>
            </a:r>
            <a:r>
              <a:rPr lang="en-US" sz="1200" b="0" i="0" u="none" strike="noStrike" kern="1200" dirty="0">
                <a:solidFill>
                  <a:schemeClr val="tx1"/>
                </a:solidFill>
                <a:effectLst/>
                <a:latin typeface="+mn-lt"/>
                <a:ea typeface="+mn-ea"/>
                <a:cs typeface="+mn-cs"/>
              </a:rPr>
              <a:t> final recommendation is simple: Trust the tool, but verify the data. Future research will expand this to Solid State Drives and Encrypted volumes. Thank you."</a:t>
            </a:r>
            <a:endParaRPr lang="en-US" dirty="0"/>
          </a:p>
          <a:p>
            <a:br>
              <a:rPr lang="en-US" dirty="0"/>
            </a:br>
            <a:endParaRPr lang="en-US" dirty="0"/>
          </a:p>
        </p:txBody>
      </p:sp>
      <p:sp>
        <p:nvSpPr>
          <p:cNvPr id="4" name="Slide Number Placeholder 3"/>
          <p:cNvSpPr>
            <a:spLocks noGrp="1"/>
          </p:cNvSpPr>
          <p:nvPr>
            <p:ph type="sldNum" sz="quarter" idx="5"/>
          </p:nvPr>
        </p:nvSpPr>
        <p:spPr/>
        <p:txBody>
          <a:bodyPr/>
          <a:lstStyle/>
          <a:p>
            <a:fld id="{CD375A04-0BA8-4A41-91A8-71D7C5593B48}" type="slidenum">
              <a:rPr lang="en-US" smtClean="0"/>
              <a:t>8</a:t>
            </a:fld>
            <a:endParaRPr lang="en-US"/>
          </a:p>
        </p:txBody>
      </p:sp>
    </p:spTree>
    <p:extLst>
      <p:ext uri="{BB962C8B-B14F-4D97-AF65-F5344CB8AC3E}">
        <p14:creationId xmlns:p14="http://schemas.microsoft.com/office/powerpoint/2010/main" val="410887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12/10/25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65443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12/10/25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10708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12/10/25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4812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12/10/25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323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12/10/25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20814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12/10/25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3620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12/10/25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85981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12/10/25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05444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12/10/25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47085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12/10/25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74066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12/10/25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9889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12/10/25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83845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2.xml"/><Relationship Id="rId7" Type="http://schemas.openxmlformats.org/officeDocument/2006/relationships/diagramQuickStyle" Target="../diagrams/quickStyle1.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2.png"/><Relationship Id="rId4" Type="http://schemas.openxmlformats.org/officeDocument/2006/relationships/notesSlide" Target="../notesSlides/notesSlide2.xm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slideLayout" Target="../slideLayouts/slideLayout2.xml"/><Relationship Id="rId7" Type="http://schemas.openxmlformats.org/officeDocument/2006/relationships/diagramQuickStyle" Target="../diagrams/quickStyle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diagramLayout" Target="../diagrams/layout2.xml"/><Relationship Id="rId5" Type="http://schemas.openxmlformats.org/officeDocument/2006/relationships/diagramData" Target="../diagrams/data2.xml"/><Relationship Id="rId10" Type="http://schemas.openxmlformats.org/officeDocument/2006/relationships/image" Target="../media/image2.png"/><Relationship Id="rId4" Type="http://schemas.openxmlformats.org/officeDocument/2006/relationships/notesSlide" Target="../notesSlides/notesSlide3.xml"/><Relationship Id="rId9" Type="http://schemas.microsoft.com/office/2007/relationships/diagramDrawing" Target="../diagrams/drawing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slideLayout" Target="../slideLayouts/slideLayout2.xml"/><Relationship Id="rId7" Type="http://schemas.openxmlformats.org/officeDocument/2006/relationships/diagramQuickStyle" Target="../diagrams/quickStyle3.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diagramLayout" Target="../diagrams/layout3.xml"/><Relationship Id="rId5" Type="http://schemas.openxmlformats.org/officeDocument/2006/relationships/diagramData" Target="../diagrams/data3.xml"/><Relationship Id="rId10" Type="http://schemas.openxmlformats.org/officeDocument/2006/relationships/image" Target="../media/image2.png"/><Relationship Id="rId4" Type="http://schemas.openxmlformats.org/officeDocument/2006/relationships/notesSlide" Target="../notesSlides/notesSlide5.xml"/><Relationship Id="rId9" Type="http://schemas.microsoft.com/office/2007/relationships/diagramDrawing" Target="../diagrams/drawing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slideLayout" Target="../slideLayouts/slideLayout2.xml"/><Relationship Id="rId7" Type="http://schemas.openxmlformats.org/officeDocument/2006/relationships/diagramQuickStyle" Target="../diagrams/quickStyle4.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diagramLayout" Target="../diagrams/layout4.xml"/><Relationship Id="rId5" Type="http://schemas.openxmlformats.org/officeDocument/2006/relationships/diagramData" Target="../diagrams/data4.xml"/><Relationship Id="rId10" Type="http://schemas.openxmlformats.org/officeDocument/2006/relationships/image" Target="../media/image2.png"/><Relationship Id="rId4" Type="http://schemas.openxmlformats.org/officeDocument/2006/relationships/notesSlide" Target="../notesSlides/notesSlide7.xml"/><Relationship Id="rId9" Type="http://schemas.microsoft.com/office/2007/relationships/diagramDrawing" Target="../diagrams/drawing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00545EB4-EC06-1FBE-CEAF-789A215794AF}"/>
              </a:ext>
            </a:extLst>
          </p:cNvPr>
          <p:cNvSpPr>
            <a:spLocks noGrp="1"/>
          </p:cNvSpPr>
          <p:nvPr>
            <p:ph type="ctrTitle"/>
          </p:nvPr>
        </p:nvSpPr>
        <p:spPr>
          <a:xfrm>
            <a:off x="514117" y="952500"/>
            <a:ext cx="4124557" cy="3524250"/>
          </a:xfrm>
        </p:spPr>
        <p:txBody>
          <a:bodyPr>
            <a:noAutofit/>
          </a:bodyPr>
          <a:lstStyle/>
          <a:p>
            <a:r>
              <a:rPr lang="en-US" sz="4000" b="0" dirty="0"/>
              <a:t>Validation and Reliability Assessment of Autopsy Forensic Suite</a:t>
            </a:r>
          </a:p>
        </p:txBody>
      </p:sp>
      <p:sp>
        <p:nvSpPr>
          <p:cNvPr id="3" name="Subtitle 2">
            <a:extLst>
              <a:ext uri="{FF2B5EF4-FFF2-40B4-BE49-F238E27FC236}">
                <a16:creationId xmlns:a16="http://schemas.microsoft.com/office/drawing/2014/main" id="{564CD3B9-CFFA-3F0E-2B8A-BBB67E795A72}"/>
              </a:ext>
            </a:extLst>
          </p:cNvPr>
          <p:cNvSpPr>
            <a:spLocks noGrp="1"/>
          </p:cNvSpPr>
          <p:nvPr>
            <p:ph type="subTitle" idx="1"/>
          </p:nvPr>
        </p:nvSpPr>
        <p:spPr>
          <a:xfrm>
            <a:off x="514117" y="4987230"/>
            <a:ext cx="4057882" cy="972532"/>
          </a:xfrm>
        </p:spPr>
        <p:txBody>
          <a:bodyPr anchor="t">
            <a:normAutofit fontScale="92500" lnSpcReduction="20000"/>
          </a:bodyPr>
          <a:lstStyle/>
          <a:p>
            <a:r>
              <a:rPr lang="en-US" b="0" dirty="0"/>
              <a:t>Ensuring Data Integrity in Open-Source Digital Forensics</a:t>
            </a:r>
          </a:p>
        </p:txBody>
      </p:sp>
      <p:cxnSp>
        <p:nvCxnSpPr>
          <p:cNvPr id="6" name="Straight Connector 5">
            <a:extLst>
              <a:ext uri="{FF2B5EF4-FFF2-40B4-BE49-F238E27FC236}">
                <a16:creationId xmlns:a16="http://schemas.microsoft.com/office/drawing/2014/main" id="{A2D508B3-A66C-833E-D929-8DC21163567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088" y="4882722"/>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1F609C46-CB93-A637-D784-13C7F88D02A8}"/>
              </a:ext>
            </a:extLst>
          </p:cNvPr>
          <p:cNvPicPr>
            <a:picLocks noChangeAspect="1"/>
          </p:cNvPicPr>
          <p:nvPr/>
        </p:nvPicPr>
        <p:blipFill>
          <a:blip r:embed="rId5"/>
          <a:srcRect l="19066" r="92" b="-1"/>
          <a:stretch>
            <a:fillRect/>
          </a:stretch>
        </p:blipFill>
        <p:spPr>
          <a:xfrm>
            <a:off x="5261956" y="10"/>
            <a:ext cx="6930043" cy="6857990"/>
          </a:xfrm>
          <a:prstGeom prst="rect">
            <a:avLst/>
          </a:prstGeom>
        </p:spPr>
      </p:pic>
      <p:sp>
        <p:nvSpPr>
          <p:cNvPr id="14" name="Subtitle 2">
            <a:extLst>
              <a:ext uri="{FF2B5EF4-FFF2-40B4-BE49-F238E27FC236}">
                <a16:creationId xmlns:a16="http://schemas.microsoft.com/office/drawing/2014/main" id="{37A9AC91-465A-DFFE-3410-9E5DBC76F6D3}"/>
              </a:ext>
            </a:extLst>
          </p:cNvPr>
          <p:cNvSpPr txBox="1">
            <a:spLocks/>
          </p:cNvSpPr>
          <p:nvPr/>
        </p:nvSpPr>
        <p:spPr>
          <a:xfrm>
            <a:off x="514117" y="6032061"/>
            <a:ext cx="4057882" cy="801264"/>
          </a:xfrm>
          <a:prstGeom prst="rect">
            <a:avLst/>
          </a:prstGeom>
        </p:spPr>
        <p:txBody>
          <a:bodyPr vert="horz" lIns="91440" tIns="45720" rIns="91440" bIns="45720" rtlCol="0" anchor="t">
            <a:normAutofit/>
          </a:bodyPr>
          <a:lstStyle>
            <a:lvl1pPr marL="0" indent="0" algn="l" defTabSz="914400" rtl="0" eaLnBrk="1" latinLnBrk="0" hangingPunct="1">
              <a:lnSpc>
                <a:spcPct val="13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SzPct val="87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87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t>Gurumanie </a:t>
            </a:r>
            <a:r>
              <a:rPr lang="en-US" sz="1600" dirty="0" err="1"/>
              <a:t>singh</a:t>
            </a:r>
            <a:r>
              <a:rPr lang="en-US" sz="1600" dirty="0"/>
              <a:t> </a:t>
            </a:r>
            <a:r>
              <a:rPr lang="en-US" sz="1600" dirty="0" err="1"/>
              <a:t>dhiman</a:t>
            </a:r>
            <a:endParaRPr lang="en-US" sz="1600" dirty="0"/>
          </a:p>
        </p:txBody>
      </p:sp>
      <p:pic>
        <p:nvPicPr>
          <p:cNvPr id="29" name="Audio 28">
            <a:extLst>
              <a:ext uri="{FF2B5EF4-FFF2-40B4-BE49-F238E27FC236}">
                <a16:creationId xmlns:a16="http://schemas.microsoft.com/office/drawing/2014/main" id="{BF367694-2446-64ED-6ED5-AC23F6FC2FB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78951815"/>
      </p:ext>
    </p:extLst>
  </p:cSld>
  <p:clrMapOvr>
    <a:masterClrMapping/>
  </p:clrMapOvr>
  <mc:AlternateContent xmlns:mc="http://schemas.openxmlformats.org/markup-compatibility/2006">
    <mc:Choice xmlns:p14="http://schemas.microsoft.com/office/powerpoint/2010/main" Requires="p14">
      <p:transition spd="slow" p14:dur="2000" advTm="35674"/>
    </mc:Choice>
    <mc:Fallback>
      <p:transition spd="slow" advTm="356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1C69525-1BE4-4BA0-A23C-3BB6C162E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9E4ECF-70C2-3307-6EF8-4205FA1D3884}"/>
              </a:ext>
            </a:extLst>
          </p:cNvPr>
          <p:cNvSpPr>
            <a:spLocks noGrp="1"/>
          </p:cNvSpPr>
          <p:nvPr>
            <p:ph type="title"/>
          </p:nvPr>
        </p:nvSpPr>
        <p:spPr>
          <a:xfrm>
            <a:off x="640079" y="1371601"/>
            <a:ext cx="10890929" cy="1097280"/>
          </a:xfrm>
        </p:spPr>
        <p:txBody>
          <a:bodyPr>
            <a:normAutofit/>
          </a:bodyPr>
          <a:lstStyle/>
          <a:p>
            <a:r>
              <a:rPr lang="en-US" b="0" dirty="0"/>
              <a:t>The Problem &amp; Motivation</a:t>
            </a:r>
            <a:endParaRPr lang="en-US" dirty="0"/>
          </a:p>
        </p:txBody>
      </p:sp>
      <p:cxnSp>
        <p:nvCxnSpPr>
          <p:cNvPr id="17" name="Straight Connector 16">
            <a:extLst>
              <a:ext uri="{FF2B5EF4-FFF2-40B4-BE49-F238E27FC236}">
                <a16:creationId xmlns:a16="http://schemas.microsoft.com/office/drawing/2014/main" id="{B68AF875-C18B-4B48-AE4C-A63FD3CEF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8" name="Content Placeholder 5">
            <a:extLst>
              <a:ext uri="{FF2B5EF4-FFF2-40B4-BE49-F238E27FC236}">
                <a16:creationId xmlns:a16="http://schemas.microsoft.com/office/drawing/2014/main" id="{87D5425F-FDB3-E3D9-BF6D-C6EDD0E3BB42}"/>
              </a:ext>
            </a:extLst>
          </p:cNvPr>
          <p:cNvGraphicFramePr>
            <a:graphicFrameLocks noGrp="1"/>
          </p:cNvGraphicFramePr>
          <p:nvPr>
            <p:ph idx="1"/>
            <p:extLst>
              <p:ext uri="{D42A27DB-BD31-4B8C-83A1-F6EECF244321}">
                <p14:modId xmlns:p14="http://schemas.microsoft.com/office/powerpoint/2010/main" val="3928986007"/>
              </p:ext>
            </p:extLst>
          </p:nvPr>
        </p:nvGraphicFramePr>
        <p:xfrm>
          <a:off x="640079" y="2559050"/>
          <a:ext cx="10890929" cy="373886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20" name="Audio 19">
            <a:extLst>
              <a:ext uri="{FF2B5EF4-FFF2-40B4-BE49-F238E27FC236}">
                <a16:creationId xmlns:a16="http://schemas.microsoft.com/office/drawing/2014/main" id="{DB0C6CC0-4279-0149-BE63-E0149370FC48}"/>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038162499"/>
      </p:ext>
    </p:extLst>
  </p:cSld>
  <p:clrMapOvr>
    <a:masterClrMapping/>
  </p:clrMapOvr>
  <mc:AlternateContent xmlns:mc="http://schemas.openxmlformats.org/markup-compatibility/2006">
    <mc:Choice xmlns:p14="http://schemas.microsoft.com/office/powerpoint/2010/main" Requires="p14">
      <p:transition spd="slow" p14:dur="2000" advTm="46040"/>
    </mc:Choice>
    <mc:Fallback>
      <p:transition spd="slow" advTm="46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002979-8BBC-6794-8446-9F8D28CEB2E4}"/>
              </a:ext>
            </a:extLst>
          </p:cNvPr>
          <p:cNvSpPr>
            <a:spLocks noGrp="1"/>
          </p:cNvSpPr>
          <p:nvPr>
            <p:ph type="title"/>
          </p:nvPr>
        </p:nvSpPr>
        <p:spPr>
          <a:xfrm>
            <a:off x="640079" y="570750"/>
            <a:ext cx="10890929" cy="1387934"/>
          </a:xfrm>
        </p:spPr>
        <p:txBody>
          <a:bodyPr anchor="b">
            <a:normAutofit/>
          </a:bodyPr>
          <a:lstStyle/>
          <a:p>
            <a:r>
              <a:rPr lang="en-US" b="0" dirty="0"/>
              <a:t>Methodology</a:t>
            </a:r>
          </a:p>
        </p:txBody>
      </p:sp>
      <p:cxnSp>
        <p:nvCxnSpPr>
          <p:cNvPr id="12" name="Straight Connector 11">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4538D919-05B4-DB41-BC6C-2B419C8E2E63}"/>
              </a:ext>
            </a:extLst>
          </p:cNvPr>
          <p:cNvGraphicFramePr>
            <a:graphicFrameLocks noGrp="1"/>
          </p:cNvGraphicFramePr>
          <p:nvPr>
            <p:ph idx="1"/>
            <p:extLst>
              <p:ext uri="{D42A27DB-BD31-4B8C-83A1-F6EECF244321}">
                <p14:modId xmlns:p14="http://schemas.microsoft.com/office/powerpoint/2010/main" val="1597490310"/>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26" name="Audio 25">
            <a:extLst>
              <a:ext uri="{FF2B5EF4-FFF2-40B4-BE49-F238E27FC236}">
                <a16:creationId xmlns:a16="http://schemas.microsoft.com/office/drawing/2014/main" id="{9129E1B2-0AC5-BEFB-FC37-48889E43C4E4}"/>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405244424"/>
      </p:ext>
    </p:extLst>
  </p:cSld>
  <p:clrMapOvr>
    <a:masterClrMapping/>
  </p:clrMapOvr>
  <mc:AlternateContent xmlns:mc="http://schemas.openxmlformats.org/markup-compatibility/2006">
    <mc:Choice xmlns:p14="http://schemas.microsoft.com/office/powerpoint/2010/main" Requires="p14">
      <p:transition spd="slow" p14:dur="2000" advTm="54420"/>
    </mc:Choice>
    <mc:Fallback>
      <p:transition spd="slow" advTm="54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91001E-5792-F2C4-149A-9B75760EC559}"/>
              </a:ext>
            </a:extLst>
          </p:cNvPr>
          <p:cNvSpPr>
            <a:spLocks noGrp="1"/>
          </p:cNvSpPr>
          <p:nvPr>
            <p:ph type="title"/>
          </p:nvPr>
        </p:nvSpPr>
        <p:spPr>
          <a:xfrm>
            <a:off x="640080" y="1371600"/>
            <a:ext cx="5737859" cy="1097280"/>
          </a:xfrm>
        </p:spPr>
        <p:txBody>
          <a:bodyPr>
            <a:normAutofit/>
          </a:bodyPr>
          <a:lstStyle/>
          <a:p>
            <a:r>
              <a:rPr lang="en-US" b="0"/>
              <a:t>Results - Pros</a:t>
            </a:r>
            <a:endParaRPr lang="en-US" b="0" dirty="0"/>
          </a:p>
        </p:txBody>
      </p:sp>
      <p:cxnSp>
        <p:nvCxnSpPr>
          <p:cNvPr id="23" name="Straight Connector 22">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29E9B205-FC06-4C53-AE7D-FA491A4AAF96}"/>
              </a:ext>
            </a:extLst>
          </p:cNvPr>
          <p:cNvSpPr>
            <a:spLocks noGrp="1" noChangeArrowheads="1"/>
          </p:cNvSpPr>
          <p:nvPr>
            <p:ph idx="1"/>
          </p:nvPr>
        </p:nvSpPr>
        <p:spPr bwMode="auto">
          <a:xfrm>
            <a:off x="640080" y="2633236"/>
            <a:ext cx="5737860" cy="36669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b="1" i="0" u="none" strike="noStrike" cap="none" normalizeH="0" baseline="0">
                <a:ln>
                  <a:noFill/>
                </a:ln>
                <a:effectLst/>
              </a:rPr>
              <a:t>Allocated (Active) Files</a:t>
            </a:r>
            <a:r>
              <a:rPr kumimoji="0" lang="en-US" altLang="en-US" i="0" u="none" strike="noStrike" cap="none" normalizeH="0" baseline="0">
                <a:ln>
                  <a:noFill/>
                </a:ln>
                <a:effectLst/>
              </a:rPr>
              <a:t>: 98.2% Accuracy.</a:t>
            </a:r>
          </a:p>
          <a:p>
            <a:pPr eaLnBrk="0" fontAlgn="base" hangingPunct="0">
              <a:spcBef>
                <a:spcPct val="0"/>
              </a:spcBef>
              <a:spcAft>
                <a:spcPts val="600"/>
              </a:spcAft>
            </a:pPr>
            <a:r>
              <a:rPr kumimoji="0" lang="en-US" altLang="en-US" b="1" i="0" u="none" strike="noStrike" cap="none" normalizeH="0" baseline="0">
                <a:ln>
                  <a:noFill/>
                </a:ln>
                <a:effectLst/>
              </a:rPr>
              <a:t>Directory Structure: </a:t>
            </a:r>
            <a:r>
              <a:rPr kumimoji="0" lang="en-US" altLang="en-US" i="0" u="none" strike="noStrike" cap="none" normalizeH="0" baseline="0">
                <a:ln>
                  <a:noFill/>
                </a:ln>
                <a:effectLst/>
              </a:rPr>
              <a:t>Reconstructed Perfectly.</a:t>
            </a:r>
          </a:p>
          <a:p>
            <a:pPr eaLnBrk="0" fontAlgn="base" hangingPunct="0">
              <a:spcBef>
                <a:spcPct val="0"/>
              </a:spcBef>
              <a:spcAft>
                <a:spcPts val="600"/>
              </a:spcAft>
            </a:pPr>
            <a:r>
              <a:rPr kumimoji="0" lang="en-US" altLang="en-US" b="1" i="0" u="none" strike="noStrike" cap="none" normalizeH="0" baseline="0">
                <a:ln>
                  <a:noFill/>
                </a:ln>
                <a:effectLst/>
              </a:rPr>
              <a:t>Visual Evidence: </a:t>
            </a:r>
            <a:r>
              <a:rPr kumimoji="0" lang="en-US" altLang="en-US" i="0" u="none" strike="noStrike" cap="none" normalizeH="0" baseline="0">
                <a:ln>
                  <a:noFill/>
                </a:ln>
                <a:effectLst/>
              </a:rPr>
              <a:t>Autopsy correctly identified the folder tree, including folders su</a:t>
            </a:r>
            <a:r>
              <a:rPr lang="en-US" altLang="en-US"/>
              <a:t>ch as</a:t>
            </a:r>
            <a:r>
              <a:rPr kumimoji="0" lang="en-US" altLang="en-US" i="0" u="none" strike="noStrike" cap="none" normalizeH="0" baseline="0">
                <a:ln>
                  <a:noFill/>
                </a:ln>
                <a:effectLst/>
              </a:rPr>
              <a:t> Secrets even after files were deleted.</a:t>
            </a:r>
          </a:p>
        </p:txBody>
      </p:sp>
      <p:pic>
        <p:nvPicPr>
          <p:cNvPr id="9" name="Picture 8" descr="A screenshot of a computer&#10;&#10;AI-generated content may be incorrect.">
            <a:extLst>
              <a:ext uri="{FF2B5EF4-FFF2-40B4-BE49-F238E27FC236}">
                <a16:creationId xmlns:a16="http://schemas.microsoft.com/office/drawing/2014/main" id="{67EA2024-7FD7-A0E5-6C13-CCF1A4F1A608}"/>
              </a:ext>
            </a:extLst>
          </p:cNvPr>
          <p:cNvPicPr>
            <a:picLocks noChangeAspect="1"/>
          </p:cNvPicPr>
          <p:nvPr/>
        </p:nvPicPr>
        <p:blipFill>
          <a:blip r:embed="rId5"/>
          <a:srcRect r="24254"/>
          <a:stretch>
            <a:fillRect/>
          </a:stretch>
        </p:blipFill>
        <p:spPr>
          <a:xfrm>
            <a:off x="7155179" y="990200"/>
            <a:ext cx="4375829" cy="5310016"/>
          </a:xfrm>
          <a:prstGeom prst="rect">
            <a:avLst/>
          </a:prstGeom>
        </p:spPr>
      </p:pic>
      <p:pic>
        <p:nvPicPr>
          <p:cNvPr id="46" name="Audio 45">
            <a:extLst>
              <a:ext uri="{FF2B5EF4-FFF2-40B4-BE49-F238E27FC236}">
                <a16:creationId xmlns:a16="http://schemas.microsoft.com/office/drawing/2014/main" id="{4749E660-D8C8-8F58-250A-F727C6D7FCA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854628485"/>
      </p:ext>
    </p:extLst>
  </p:cSld>
  <p:clrMapOvr>
    <a:masterClrMapping/>
  </p:clrMapOvr>
  <mc:AlternateContent xmlns:mc="http://schemas.openxmlformats.org/markup-compatibility/2006">
    <mc:Choice xmlns:p14="http://schemas.microsoft.com/office/powerpoint/2010/main" Requires="p14">
      <p:transition spd="slow" p14:dur="2000" advTm="44787"/>
    </mc:Choice>
    <mc:Fallback>
      <p:transition spd="slow" advTm="447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A7139A-5FF0-CE68-90C5-CE8712BB54C5}"/>
              </a:ext>
            </a:extLst>
          </p:cNvPr>
          <p:cNvSpPr>
            <a:spLocks noGrp="1"/>
          </p:cNvSpPr>
          <p:nvPr>
            <p:ph type="title"/>
          </p:nvPr>
        </p:nvSpPr>
        <p:spPr>
          <a:xfrm>
            <a:off x="640079" y="570750"/>
            <a:ext cx="10890929" cy="1387934"/>
          </a:xfrm>
        </p:spPr>
        <p:txBody>
          <a:bodyPr anchor="b">
            <a:normAutofit/>
          </a:bodyPr>
          <a:lstStyle/>
          <a:p>
            <a:r>
              <a:rPr lang="en-US" b="0" dirty="0"/>
              <a:t>Results - Cons</a:t>
            </a:r>
          </a:p>
        </p:txBody>
      </p:sp>
      <p:cxnSp>
        <p:nvCxnSpPr>
          <p:cNvPr id="12" name="Straight Connector 11">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412F1032-3DC9-4B60-5658-4067F196A164}"/>
              </a:ext>
            </a:extLst>
          </p:cNvPr>
          <p:cNvGraphicFramePr>
            <a:graphicFrameLocks noGrp="1"/>
          </p:cNvGraphicFramePr>
          <p:nvPr>
            <p:ph idx="1"/>
            <p:extLst>
              <p:ext uri="{D42A27DB-BD31-4B8C-83A1-F6EECF244321}">
                <p14:modId xmlns:p14="http://schemas.microsoft.com/office/powerpoint/2010/main" val="3202278784"/>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26" name="Audio 25">
            <a:extLst>
              <a:ext uri="{FF2B5EF4-FFF2-40B4-BE49-F238E27FC236}">
                <a16:creationId xmlns:a16="http://schemas.microsoft.com/office/drawing/2014/main" id="{004066F5-88DB-7E5E-508B-B2E6A536D87C}"/>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660167187"/>
      </p:ext>
    </p:extLst>
  </p:cSld>
  <p:clrMapOvr>
    <a:masterClrMapping/>
  </p:clrMapOvr>
  <mc:AlternateContent xmlns:mc="http://schemas.openxmlformats.org/markup-compatibility/2006">
    <mc:Choice xmlns:p14="http://schemas.microsoft.com/office/powerpoint/2010/main" Requires="p14">
      <p:transition spd="slow" p14:dur="2000" advTm="66060"/>
    </mc:Choice>
    <mc:Fallback>
      <p:transition spd="slow" advTm="66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DC90B3-F88B-E0ED-5BFC-230F8A68CE65}"/>
              </a:ext>
            </a:extLst>
          </p:cNvPr>
          <p:cNvSpPr>
            <a:spLocks noGrp="1"/>
          </p:cNvSpPr>
          <p:nvPr>
            <p:ph type="title"/>
          </p:nvPr>
        </p:nvSpPr>
        <p:spPr>
          <a:xfrm>
            <a:off x="640080" y="914399"/>
            <a:ext cx="10847494" cy="1171069"/>
          </a:xfrm>
        </p:spPr>
        <p:txBody>
          <a:bodyPr anchor="t">
            <a:normAutofit/>
          </a:bodyPr>
          <a:lstStyle/>
          <a:p>
            <a:r>
              <a:rPr lang="en-US" b="0" dirty="0"/>
              <a:t>Timestamp Issues</a:t>
            </a:r>
          </a:p>
        </p:txBody>
      </p:sp>
      <p:pic>
        <p:nvPicPr>
          <p:cNvPr id="8" name="Graphic 7" descr="Error">
            <a:extLst>
              <a:ext uri="{FF2B5EF4-FFF2-40B4-BE49-F238E27FC236}">
                <a16:creationId xmlns:a16="http://schemas.microsoft.com/office/drawing/2014/main" id="{D98B95C0-14E0-44F3-AF8B-0FAE7BC593C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3232" y="2256287"/>
            <a:ext cx="3760459" cy="3760459"/>
          </a:xfrm>
          <a:prstGeom prst="rect">
            <a:avLst/>
          </a:prstGeom>
        </p:spPr>
      </p:pic>
      <p:sp>
        <p:nvSpPr>
          <p:cNvPr id="4" name="Rectangle 1">
            <a:extLst>
              <a:ext uri="{FF2B5EF4-FFF2-40B4-BE49-F238E27FC236}">
                <a16:creationId xmlns:a16="http://schemas.microsoft.com/office/drawing/2014/main" id="{503B1157-AC25-7321-3C73-B0C8C0F9BE92}"/>
              </a:ext>
            </a:extLst>
          </p:cNvPr>
          <p:cNvSpPr>
            <a:spLocks noGrp="1" noChangeArrowheads="1"/>
          </p:cNvSpPr>
          <p:nvPr>
            <p:ph idx="1"/>
          </p:nvPr>
        </p:nvSpPr>
        <p:spPr bwMode="auto">
          <a:xfrm>
            <a:off x="6915150" y="2256287"/>
            <a:ext cx="4563618" cy="376045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eaLnBrk="0" fontAlgn="base" hangingPunct="0">
              <a:spcBef>
                <a:spcPct val="0"/>
              </a:spcBef>
              <a:spcAft>
                <a:spcPts val="600"/>
              </a:spcAft>
            </a:pPr>
            <a:r>
              <a:rPr kumimoji="0" lang="en-US" altLang="en-US" b="1" i="0" u="none" strike="noStrike" cap="none" normalizeH="0" baseline="0">
                <a:ln>
                  <a:noFill/>
                </a:ln>
                <a:effectLst/>
              </a:rPr>
              <a:t>Issue:</a:t>
            </a:r>
            <a:r>
              <a:rPr kumimoji="0" lang="en-US" altLang="en-US" b="0" i="0" u="none" strike="noStrike" cap="none" normalizeH="0" baseline="0">
                <a:ln>
                  <a:noFill/>
                </a:ln>
                <a:effectLst/>
              </a:rPr>
              <a:t> Discrepancy between the File System Time and Local Time.</a:t>
            </a:r>
          </a:p>
          <a:p>
            <a:pPr eaLnBrk="0" fontAlgn="base" hangingPunct="0">
              <a:spcBef>
                <a:spcPct val="0"/>
              </a:spcBef>
              <a:spcAft>
                <a:spcPts val="600"/>
              </a:spcAft>
            </a:pPr>
            <a:r>
              <a:rPr kumimoji="0" lang="en-US" altLang="en-US" b="1" i="0" u="none" strike="noStrike" cap="none" normalizeH="0" baseline="0">
                <a:ln>
                  <a:noFill/>
                </a:ln>
                <a:effectLst/>
              </a:rPr>
              <a:t>Example:</a:t>
            </a:r>
            <a:endParaRPr lang="en-US" altLang="en-US"/>
          </a:p>
          <a:p>
            <a:pPr lvl="1" eaLnBrk="0" fontAlgn="base" hangingPunct="0">
              <a:spcBef>
                <a:spcPct val="0"/>
              </a:spcBef>
              <a:spcAft>
                <a:spcPts val="600"/>
              </a:spcAft>
            </a:pPr>
            <a:r>
              <a:rPr kumimoji="0" lang="en-US" altLang="en-US" b="0" i="0" u="none" strike="noStrike" cap="none" normalizeH="0" baseline="0">
                <a:ln>
                  <a:noFill/>
                </a:ln>
                <a:effectLst/>
              </a:rPr>
              <a:t>EXIF Data: 2:00 PM (Actual).</a:t>
            </a:r>
          </a:p>
          <a:p>
            <a:pPr lvl="1" eaLnBrk="0" fontAlgn="base" hangingPunct="0">
              <a:spcBef>
                <a:spcPct val="0"/>
              </a:spcBef>
              <a:spcAft>
                <a:spcPts val="600"/>
              </a:spcAft>
            </a:pPr>
            <a:r>
              <a:rPr kumimoji="0" lang="en-US" altLang="en-US" b="0" i="0" u="none" strike="noStrike" cap="none" normalizeH="0" baseline="0">
                <a:ln>
                  <a:noFill/>
                </a:ln>
                <a:effectLst/>
              </a:rPr>
              <a:t>Autopsy Display: 8:00 AM (Adjusted for examiner's time zone).</a:t>
            </a:r>
          </a:p>
          <a:p>
            <a:pPr eaLnBrk="0" fontAlgn="base" hangingPunct="0">
              <a:spcBef>
                <a:spcPct val="0"/>
              </a:spcBef>
              <a:spcAft>
                <a:spcPts val="600"/>
              </a:spcAft>
            </a:pPr>
            <a:r>
              <a:rPr kumimoji="0" lang="en-US" altLang="en-US" b="1" i="0" u="none" strike="noStrike" cap="none" normalizeH="0" baseline="0">
                <a:ln>
                  <a:noFill/>
                </a:ln>
                <a:effectLst/>
              </a:rPr>
              <a:t>Risk:</a:t>
            </a:r>
            <a:r>
              <a:rPr kumimoji="0" lang="en-US" altLang="en-US" b="0" i="0" u="none" strike="noStrike" cap="none" normalizeH="0" baseline="0">
                <a:ln>
                  <a:noFill/>
                </a:ln>
                <a:effectLst/>
              </a:rPr>
              <a:t> Establishing a false timeline/alibi in court.</a:t>
            </a: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a:ln>
                <a:noFill/>
              </a:ln>
              <a:effectLst/>
            </a:endParaRPr>
          </a:p>
        </p:txBody>
      </p:sp>
      <p:cxnSp>
        <p:nvCxnSpPr>
          <p:cNvPr id="13" name="Straight Connector 12">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29" name="Audio 28">
            <a:extLst>
              <a:ext uri="{FF2B5EF4-FFF2-40B4-BE49-F238E27FC236}">
                <a16:creationId xmlns:a16="http://schemas.microsoft.com/office/drawing/2014/main" id="{BBF7CE2D-8097-B031-DE09-60E6D5BCBFD3}"/>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348429327"/>
      </p:ext>
    </p:extLst>
  </p:cSld>
  <p:clrMapOvr>
    <a:masterClrMapping/>
  </p:clrMapOvr>
  <mc:AlternateContent xmlns:mc="http://schemas.openxmlformats.org/markup-compatibility/2006">
    <mc:Choice xmlns:p14="http://schemas.microsoft.com/office/powerpoint/2010/main" Requires="p14">
      <p:transition spd="slow" p14:dur="2000" advTm="37442"/>
    </mc:Choice>
    <mc:Fallback>
      <p:transition spd="slow" advTm="374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073988-DDD5-40A7-1398-421B5DA09DB6}"/>
              </a:ext>
            </a:extLst>
          </p:cNvPr>
          <p:cNvSpPr>
            <a:spLocks noGrp="1"/>
          </p:cNvSpPr>
          <p:nvPr>
            <p:ph type="title"/>
          </p:nvPr>
        </p:nvSpPr>
        <p:spPr>
          <a:xfrm>
            <a:off x="640079" y="570750"/>
            <a:ext cx="10890929" cy="1387934"/>
          </a:xfrm>
        </p:spPr>
        <p:txBody>
          <a:bodyPr anchor="b">
            <a:normAutofit/>
          </a:bodyPr>
          <a:lstStyle/>
          <a:p>
            <a:r>
              <a:rPr lang="en-US" b="0" dirty="0"/>
              <a:t>Proposed Solution</a:t>
            </a:r>
          </a:p>
        </p:txBody>
      </p:sp>
      <p:cxnSp>
        <p:nvCxnSpPr>
          <p:cNvPr id="12" name="Straight Connector 11">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6784D511-8C86-8199-C655-84B550CEC12F}"/>
              </a:ext>
            </a:extLst>
          </p:cNvPr>
          <p:cNvGraphicFramePr>
            <a:graphicFrameLocks noGrp="1"/>
          </p:cNvGraphicFramePr>
          <p:nvPr>
            <p:ph idx="1"/>
            <p:extLst>
              <p:ext uri="{D42A27DB-BD31-4B8C-83A1-F6EECF244321}">
                <p14:modId xmlns:p14="http://schemas.microsoft.com/office/powerpoint/2010/main" val="2865740008"/>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23" name="Audio 22">
            <a:extLst>
              <a:ext uri="{FF2B5EF4-FFF2-40B4-BE49-F238E27FC236}">
                <a16:creationId xmlns:a16="http://schemas.microsoft.com/office/drawing/2014/main" id="{7405C644-E6B7-ADE1-6C49-B93F83251336}"/>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551764938"/>
      </p:ext>
    </p:extLst>
  </p:cSld>
  <p:clrMapOvr>
    <a:masterClrMapping/>
  </p:clrMapOvr>
  <mc:AlternateContent xmlns:mc="http://schemas.openxmlformats.org/markup-compatibility/2006">
    <mc:Choice xmlns:p14="http://schemas.microsoft.com/office/powerpoint/2010/main" Requires="p14">
      <p:transition spd="slow" p14:dur="2000" advTm="46460"/>
    </mc:Choice>
    <mc:Fallback>
      <p:transition spd="slow" advTm="46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DC95B1A-15FE-C9E2-703A-4266726D79F0}"/>
              </a:ext>
            </a:extLst>
          </p:cNvPr>
          <p:cNvSpPr>
            <a:spLocks noGrp="1"/>
          </p:cNvSpPr>
          <p:nvPr>
            <p:ph type="title"/>
          </p:nvPr>
        </p:nvSpPr>
        <p:spPr>
          <a:xfrm>
            <a:off x="640080" y="914399"/>
            <a:ext cx="10847494" cy="1171069"/>
          </a:xfrm>
        </p:spPr>
        <p:txBody>
          <a:bodyPr anchor="t">
            <a:normAutofit/>
          </a:bodyPr>
          <a:lstStyle/>
          <a:p>
            <a:r>
              <a:rPr lang="en-US" b="0" dirty="0"/>
              <a:t>Conclusion</a:t>
            </a:r>
          </a:p>
        </p:txBody>
      </p:sp>
      <p:pic>
        <p:nvPicPr>
          <p:cNvPr id="8" name="Graphic 7" descr="Finger Print">
            <a:extLst>
              <a:ext uri="{FF2B5EF4-FFF2-40B4-BE49-F238E27FC236}">
                <a16:creationId xmlns:a16="http://schemas.microsoft.com/office/drawing/2014/main" id="{C3C6F7B8-53F5-8EF1-76D9-A05F69B76FD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3232" y="2256287"/>
            <a:ext cx="3760459" cy="3760459"/>
          </a:xfrm>
          <a:prstGeom prst="rect">
            <a:avLst/>
          </a:prstGeom>
        </p:spPr>
      </p:pic>
      <p:sp>
        <p:nvSpPr>
          <p:cNvPr id="4" name="Rectangle 1">
            <a:extLst>
              <a:ext uri="{FF2B5EF4-FFF2-40B4-BE49-F238E27FC236}">
                <a16:creationId xmlns:a16="http://schemas.microsoft.com/office/drawing/2014/main" id="{E268D8A0-F1EE-511E-838E-AF29CACA884C}"/>
              </a:ext>
            </a:extLst>
          </p:cNvPr>
          <p:cNvSpPr>
            <a:spLocks noGrp="1" noChangeArrowheads="1"/>
          </p:cNvSpPr>
          <p:nvPr>
            <p:ph idx="1"/>
          </p:nvPr>
        </p:nvSpPr>
        <p:spPr bwMode="auto">
          <a:xfrm>
            <a:off x="6915150" y="2256287"/>
            <a:ext cx="4563618" cy="376045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10000"/>
              </a:lnSpc>
              <a:spcAft>
                <a:spcPts val="600"/>
              </a:spcAft>
            </a:pPr>
            <a:r>
              <a:rPr kumimoji="0" lang="en-US" altLang="en-US" sz="1700" b="1" i="0" u="none" strike="noStrike" cap="none" normalizeH="0" baseline="0" dirty="0">
                <a:ln>
                  <a:noFill/>
                </a:ln>
                <a:effectLst/>
                <a:latin typeface="+mn-lt"/>
              </a:rPr>
              <a:t>Summary:</a:t>
            </a:r>
            <a:endParaRPr lang="en-US" altLang="en-US" sz="1700" dirty="0">
              <a:latin typeface="+mn-lt"/>
            </a:endParaRPr>
          </a:p>
          <a:p>
            <a:pPr lvl="1">
              <a:lnSpc>
                <a:spcPct val="110000"/>
              </a:lnSpc>
              <a:spcAft>
                <a:spcPts val="600"/>
              </a:spcAft>
            </a:pPr>
            <a:r>
              <a:rPr kumimoji="0" lang="en-US" altLang="en-US" sz="1700" i="0" u="none" strike="noStrike" cap="none" normalizeH="0" baseline="0" dirty="0">
                <a:ln>
                  <a:noFill/>
                </a:ln>
                <a:effectLst/>
                <a:latin typeface="+mn-lt"/>
              </a:rPr>
              <a:t>Autopsy is reliable for active files (100% accuracy).</a:t>
            </a:r>
          </a:p>
          <a:p>
            <a:pPr lvl="1">
              <a:lnSpc>
                <a:spcPct val="110000"/>
              </a:lnSpc>
              <a:spcAft>
                <a:spcPts val="600"/>
              </a:spcAft>
            </a:pPr>
            <a:r>
              <a:rPr kumimoji="0" lang="en-US" altLang="en-US" sz="1700" i="0" u="none" strike="noStrike" cap="none" normalizeH="0" baseline="0" dirty="0">
                <a:ln>
                  <a:noFill/>
                </a:ln>
                <a:effectLst/>
                <a:latin typeface="+mn-lt"/>
              </a:rPr>
              <a:t>"Shift + Delete" creates "Ghost Entries” where the metadata exists, but the data is gone.</a:t>
            </a:r>
          </a:p>
          <a:p>
            <a:pPr>
              <a:lnSpc>
                <a:spcPct val="110000"/>
              </a:lnSpc>
              <a:spcAft>
                <a:spcPts val="600"/>
              </a:spcAft>
            </a:pPr>
            <a:r>
              <a:rPr kumimoji="0" lang="en-US" altLang="en-US" sz="1700" b="1" i="0" u="none" strike="noStrike" cap="none" normalizeH="0" baseline="0" dirty="0">
                <a:ln>
                  <a:noFill/>
                </a:ln>
                <a:effectLst/>
                <a:latin typeface="+mn-lt"/>
              </a:rPr>
              <a:t>Key Takeaway:</a:t>
            </a:r>
            <a:r>
              <a:rPr kumimoji="0" lang="en-US" altLang="en-US" sz="1700" i="0" u="none" strike="noStrike" cap="none" normalizeH="0" baseline="0" dirty="0">
                <a:ln>
                  <a:noFill/>
                </a:ln>
                <a:effectLst/>
                <a:latin typeface="+mn-lt"/>
              </a:rPr>
              <a:t> Trust the tool but verify the data.</a:t>
            </a:r>
          </a:p>
          <a:p>
            <a:pPr>
              <a:lnSpc>
                <a:spcPct val="110000"/>
              </a:lnSpc>
              <a:spcAft>
                <a:spcPts val="600"/>
              </a:spcAft>
            </a:pPr>
            <a:r>
              <a:rPr kumimoji="0" lang="en-US" altLang="en-US" sz="1700" b="1" i="0" u="none" strike="noStrike" cap="none" normalizeH="0" baseline="0" dirty="0">
                <a:ln>
                  <a:noFill/>
                </a:ln>
                <a:effectLst/>
                <a:latin typeface="+mn-lt"/>
              </a:rPr>
              <a:t>Future Work:</a:t>
            </a:r>
            <a:r>
              <a:rPr kumimoji="0" lang="en-US" altLang="en-US" sz="1700" i="0" u="none" strike="noStrike" cap="none" normalizeH="0" baseline="0" dirty="0">
                <a:ln>
                  <a:noFill/>
                </a:ln>
                <a:effectLst/>
                <a:latin typeface="+mn-lt"/>
              </a:rPr>
              <a:t> Testing SSDs (TRIM command) and Encryption (BitLocker).</a:t>
            </a:r>
          </a:p>
          <a:p>
            <a:pPr marL="0" marR="0" lvl="0" indent="0" defTabSz="914400" rtl="0" eaLnBrk="0" fontAlgn="base" latinLnBrk="0" hangingPunct="0">
              <a:lnSpc>
                <a:spcPct val="110000"/>
              </a:lnSpc>
              <a:spcBef>
                <a:spcPct val="0"/>
              </a:spcBef>
              <a:spcAft>
                <a:spcPts val="600"/>
              </a:spcAft>
              <a:buClrTx/>
              <a:buSzTx/>
              <a:buFontTx/>
              <a:buNone/>
              <a:tabLst/>
            </a:pPr>
            <a:endParaRPr kumimoji="0" lang="en-US" altLang="en-US" sz="1700" i="0" u="none" strike="noStrike" cap="none" normalizeH="0" baseline="0" dirty="0">
              <a:ln>
                <a:noFill/>
              </a:ln>
              <a:effectLst/>
              <a:latin typeface="+mn-lt"/>
            </a:endParaRPr>
          </a:p>
        </p:txBody>
      </p:sp>
      <p:cxnSp>
        <p:nvCxnSpPr>
          <p:cNvPr id="13" name="Straight Connector 12">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4" name="Audio 13">
            <a:extLst>
              <a:ext uri="{FF2B5EF4-FFF2-40B4-BE49-F238E27FC236}">
                <a16:creationId xmlns:a16="http://schemas.microsoft.com/office/drawing/2014/main" id="{ACBD4985-E537-AC4A-E740-69D5B8D351B3}"/>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829798465"/>
      </p:ext>
    </p:extLst>
  </p:cSld>
  <p:clrMapOvr>
    <a:masterClrMapping/>
  </p:clrMapOvr>
  <mc:AlternateContent xmlns:mc="http://schemas.openxmlformats.org/markup-compatibility/2006">
    <mc:Choice xmlns:p14="http://schemas.microsoft.com/office/powerpoint/2010/main" Requires="p14">
      <p:transition spd="slow" p14:dur="2000" advTm="40000"/>
    </mc:Choice>
    <mc:Fallback>
      <p:transition spd="slow" advTm="4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Berlin</Template>
  <TotalTime>103</TotalTime>
  <Words>1189</Words>
  <Application>Microsoft Macintosh PowerPoint</Application>
  <PresentationFormat>Widescreen</PresentationFormat>
  <Paragraphs>76</Paragraphs>
  <Slides>8</Slides>
  <Notes>8</Notes>
  <HiddenSlides>0</HiddenSlides>
  <MMClips>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Grandview Display</vt:lpstr>
      <vt:lpstr>DashVTI</vt:lpstr>
      <vt:lpstr>Validation and Reliability Assessment of Autopsy Forensic Suite</vt:lpstr>
      <vt:lpstr>The Problem &amp; Motivation</vt:lpstr>
      <vt:lpstr>Methodology</vt:lpstr>
      <vt:lpstr>Results - Pros</vt:lpstr>
      <vt:lpstr>Results - Cons</vt:lpstr>
      <vt:lpstr>Timestamp Issues</vt:lpstr>
      <vt:lpstr>Proposed Solution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Dhiman, Gurumanie S</dc:creator>
  <cp:lastModifiedBy>Dhiman, Gurumanie S</cp:lastModifiedBy>
  <cp:revision>3</cp:revision>
  <dcterms:created xsi:type="dcterms:W3CDTF">2025-12-09T02:17:30Z</dcterms:created>
  <dcterms:modified xsi:type="dcterms:W3CDTF">2025-12-10T23:34:01Z</dcterms:modified>
</cp:coreProperties>
</file>